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A4D0613F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6" r:id="rId1"/>
  </p:sldMasterIdLst>
  <p:sldIdLst>
    <p:sldId id="256" r:id="rId2"/>
    <p:sldId id="257" r:id="rId3"/>
  </p:sldIdLst>
  <p:sldSz cx="26517600" cy="2560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8148EB0-0C33-F837-F2C3-8594A0647F7D}" name="Nguyen, Vy Kim" initials="VN" userId="S::vy_nguyen@hms.harvard.edu::4033e16d-2c3b-4a87-b86f-e4e4b2e9042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27"/>
    <p:restoredTop sz="96327"/>
  </p:normalViewPr>
  <p:slideViewPr>
    <p:cSldViewPr snapToGrid="0" snapToObjects="1">
      <p:cViewPr varScale="1">
        <p:scale>
          <a:sx n="44" d="100"/>
          <a:sy n="44" d="100"/>
        </p:scale>
        <p:origin x="3616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omments/modernComment_100_A4D0613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EFC174A-BC46-5747-9A2A-A66AC3137D15}" authorId="{78148EB0-0C33-F837-F2C3-8594A0647F7D}" created="2024-08-16T15:59:35.21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65119807" sldId="256"/>
      <ac:graphicFrameMk id="60" creationId="{AD4A7838-C4A9-5659-EEEC-534484567618}"/>
    </ac:deMkLst>
    <p188:txBody>
      <a:bodyPr/>
      <a:lstStyle/>
      <a:p>
        <a:r>
          <a:rPr lang="en-US"/>
          <a:t>take out equations</a:t>
        </a:r>
      </a:p>
    </p188:txBody>
  </p188:cm>
  <p188:cm id="{CB2A1E81-E851-FB41-A5D2-E648FE318929}" authorId="{78148EB0-0C33-F837-F2C3-8594A0647F7D}" created="2024-08-16T16:00:07.879">
    <pc:sldMkLst xmlns:pc="http://schemas.microsoft.com/office/powerpoint/2013/main/command">
      <pc:docMk/>
      <pc:sldMk cId="2765119807" sldId="256"/>
    </pc:sldMkLst>
    <p188:txBody>
      <a:bodyPr/>
      <a:lstStyle/>
      <a:p>
        <a:r>
          <a:rPr lang="en-US"/>
          <a:t>take out j and k groups</a:t>
        </a:r>
      </a:p>
    </p188:txBody>
  </p188:cm>
  <p188:cm id="{A27A42AB-D696-BF48-A6E3-E3C813B42A35}" authorId="{78148EB0-0C33-F837-F2C3-8594A0647F7D}" created="2024-08-16T16:01:04.22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65119807" sldId="256"/>
      <ac:cxnSpMk id="146" creationId="{42C76E8C-6B38-C2B9-6EB6-0225ECA937E6}"/>
    </ac:deMkLst>
    <p188:txBody>
      <a:bodyPr/>
      <a:lstStyle/>
      <a:p>
        <a:r>
          <a:rPr lang="en-US"/>
          <a:t>take out forest plots</a:t>
        </a:r>
      </a:p>
    </p188:txBody>
  </p188:cm>
  <p188:cm id="{052E99B9-3167-EA47-A0DC-41CD1C1F88B8}" authorId="{78148EB0-0C33-F837-F2C3-8594A0647F7D}" created="2024-08-16T16:02:27.57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65119807" sldId="256"/>
      <ac:spMk id="199" creationId="{BD729599-B342-614C-BF82-5B9D1729FE06}"/>
    </ac:deMkLst>
    <p188:txBody>
      <a:bodyPr/>
      <a:lstStyle/>
      <a:p>
        <a:r>
          <a:rPr lang="en-US"/>
          <a:t>consider cleaning as separare panel from statistical analysis and visualization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8820" y="4190155"/>
            <a:ext cx="22539960" cy="8913707"/>
          </a:xfrm>
        </p:spPr>
        <p:txBody>
          <a:bodyPr anchor="b"/>
          <a:lstStyle>
            <a:lvl1pPr algn="ctr">
              <a:defRPr sz="1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14700" y="13447609"/>
            <a:ext cx="19888200" cy="6181511"/>
          </a:xfrm>
        </p:spPr>
        <p:txBody>
          <a:bodyPr/>
          <a:lstStyle>
            <a:lvl1pPr marL="0" indent="0" algn="ctr">
              <a:buNone/>
              <a:defRPr sz="6960"/>
            </a:lvl1pPr>
            <a:lvl2pPr marL="1325880" indent="0" algn="ctr">
              <a:buNone/>
              <a:defRPr sz="5800"/>
            </a:lvl2pPr>
            <a:lvl3pPr marL="2651760" indent="0" algn="ctr">
              <a:buNone/>
              <a:defRPr sz="5220"/>
            </a:lvl3pPr>
            <a:lvl4pPr marL="3977640" indent="0" algn="ctr">
              <a:buNone/>
              <a:defRPr sz="4640"/>
            </a:lvl4pPr>
            <a:lvl5pPr marL="5303520" indent="0" algn="ctr">
              <a:buNone/>
              <a:defRPr sz="4640"/>
            </a:lvl5pPr>
            <a:lvl6pPr marL="6629400" indent="0" algn="ctr">
              <a:buNone/>
              <a:defRPr sz="4640"/>
            </a:lvl6pPr>
            <a:lvl7pPr marL="7955280" indent="0" algn="ctr">
              <a:buNone/>
              <a:defRPr sz="4640"/>
            </a:lvl7pPr>
            <a:lvl8pPr marL="9281160" indent="0" algn="ctr">
              <a:buNone/>
              <a:defRPr sz="4640"/>
            </a:lvl8pPr>
            <a:lvl9pPr marL="10607040" indent="0" algn="ctr">
              <a:buNone/>
              <a:defRPr sz="4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AD564-B736-0C45-B96E-1A374E4A831F}" type="datetimeFigureOut">
              <a:rPr lang="en-US" smtClean="0"/>
              <a:t>8/16/24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4290B-EA02-B14E-B6C6-20DDDEDEB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817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AD564-B736-0C45-B96E-1A374E4A831F}" type="datetimeFigureOut">
              <a:rPr lang="en-US" smtClean="0"/>
              <a:t>8/16/24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4290B-EA02-B14E-B6C6-20DDDEDEB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518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275" y="6383028"/>
            <a:ext cx="22871430" cy="10650218"/>
          </a:xfrm>
        </p:spPr>
        <p:txBody>
          <a:bodyPr anchor="b"/>
          <a:lstStyle>
            <a:lvl1pPr>
              <a:defRPr sz="1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9275" y="17134001"/>
            <a:ext cx="22871430" cy="5600698"/>
          </a:xfrm>
        </p:spPr>
        <p:txBody>
          <a:bodyPr/>
          <a:lstStyle>
            <a:lvl1pPr marL="0" indent="0">
              <a:buNone/>
              <a:defRPr sz="6960">
                <a:solidFill>
                  <a:schemeClr val="tx1"/>
                </a:solidFill>
              </a:defRPr>
            </a:lvl1pPr>
            <a:lvl2pPr marL="1325880" indent="0">
              <a:buNone/>
              <a:defRPr sz="5800">
                <a:solidFill>
                  <a:schemeClr val="tx1">
                    <a:tint val="75000"/>
                  </a:schemeClr>
                </a:solidFill>
              </a:defRPr>
            </a:lvl2pPr>
            <a:lvl3pPr marL="2651760" indent="0">
              <a:buNone/>
              <a:defRPr sz="5220">
                <a:solidFill>
                  <a:schemeClr val="tx1">
                    <a:tint val="75000"/>
                  </a:schemeClr>
                </a:solidFill>
              </a:defRPr>
            </a:lvl3pPr>
            <a:lvl4pPr marL="3977640" indent="0">
              <a:buNone/>
              <a:defRPr sz="4640">
                <a:solidFill>
                  <a:schemeClr val="tx1">
                    <a:tint val="75000"/>
                  </a:schemeClr>
                </a:solidFill>
              </a:defRPr>
            </a:lvl4pPr>
            <a:lvl5pPr marL="5303520" indent="0">
              <a:buNone/>
              <a:defRPr sz="4640">
                <a:solidFill>
                  <a:schemeClr val="tx1">
                    <a:tint val="75000"/>
                  </a:schemeClr>
                </a:solidFill>
              </a:defRPr>
            </a:lvl5pPr>
            <a:lvl6pPr marL="6629400" indent="0">
              <a:buNone/>
              <a:defRPr sz="4640">
                <a:solidFill>
                  <a:schemeClr val="tx1">
                    <a:tint val="75000"/>
                  </a:schemeClr>
                </a:solidFill>
              </a:defRPr>
            </a:lvl6pPr>
            <a:lvl7pPr marL="7955280" indent="0">
              <a:buNone/>
              <a:defRPr sz="4640">
                <a:solidFill>
                  <a:schemeClr val="tx1">
                    <a:tint val="75000"/>
                  </a:schemeClr>
                </a:solidFill>
              </a:defRPr>
            </a:lvl7pPr>
            <a:lvl8pPr marL="9281160" indent="0">
              <a:buNone/>
              <a:defRPr sz="4640">
                <a:solidFill>
                  <a:schemeClr val="tx1">
                    <a:tint val="75000"/>
                  </a:schemeClr>
                </a:solidFill>
              </a:defRPr>
            </a:lvl8pPr>
            <a:lvl9pPr marL="10607040" indent="0">
              <a:buNone/>
              <a:defRPr sz="46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AD564-B736-0C45-B96E-1A374E4A831F}" type="datetimeFigureOut">
              <a:rPr lang="en-US" smtClean="0"/>
              <a:t>8/16/24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4290B-EA02-B14E-B6C6-20DDDEDEB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177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23085" y="6815667"/>
            <a:ext cx="11269980" cy="16244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24535" y="6815667"/>
            <a:ext cx="11269980" cy="16244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AD564-B736-0C45-B96E-1A374E4A831F}" type="datetimeFigureOut">
              <a:rPr lang="en-US" smtClean="0"/>
              <a:t>8/16/24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4290B-EA02-B14E-B6C6-20DDDEDEB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000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6539" y="1363139"/>
            <a:ext cx="22871430" cy="49487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6542" y="6276342"/>
            <a:ext cx="11218186" cy="3075938"/>
          </a:xfrm>
        </p:spPr>
        <p:txBody>
          <a:bodyPr anchor="b"/>
          <a:lstStyle>
            <a:lvl1pPr marL="0" indent="0">
              <a:buNone/>
              <a:defRPr sz="6960" b="1"/>
            </a:lvl1pPr>
            <a:lvl2pPr marL="1325880" indent="0">
              <a:buNone/>
              <a:defRPr sz="5800" b="1"/>
            </a:lvl2pPr>
            <a:lvl3pPr marL="2651760" indent="0">
              <a:buNone/>
              <a:defRPr sz="5220" b="1"/>
            </a:lvl3pPr>
            <a:lvl4pPr marL="3977640" indent="0">
              <a:buNone/>
              <a:defRPr sz="4640" b="1"/>
            </a:lvl4pPr>
            <a:lvl5pPr marL="5303520" indent="0">
              <a:buNone/>
              <a:defRPr sz="4640" b="1"/>
            </a:lvl5pPr>
            <a:lvl6pPr marL="6629400" indent="0">
              <a:buNone/>
              <a:defRPr sz="4640" b="1"/>
            </a:lvl6pPr>
            <a:lvl7pPr marL="7955280" indent="0">
              <a:buNone/>
              <a:defRPr sz="4640" b="1"/>
            </a:lvl7pPr>
            <a:lvl8pPr marL="9281160" indent="0">
              <a:buNone/>
              <a:defRPr sz="4640" b="1"/>
            </a:lvl8pPr>
            <a:lvl9pPr marL="10607040" indent="0">
              <a:buNone/>
              <a:defRPr sz="4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6542" y="9352280"/>
            <a:ext cx="11218186" cy="13755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424536" y="6276342"/>
            <a:ext cx="11273434" cy="3075938"/>
          </a:xfrm>
        </p:spPr>
        <p:txBody>
          <a:bodyPr anchor="b"/>
          <a:lstStyle>
            <a:lvl1pPr marL="0" indent="0">
              <a:buNone/>
              <a:defRPr sz="6960" b="1"/>
            </a:lvl1pPr>
            <a:lvl2pPr marL="1325880" indent="0">
              <a:buNone/>
              <a:defRPr sz="5800" b="1"/>
            </a:lvl2pPr>
            <a:lvl3pPr marL="2651760" indent="0">
              <a:buNone/>
              <a:defRPr sz="5220" b="1"/>
            </a:lvl3pPr>
            <a:lvl4pPr marL="3977640" indent="0">
              <a:buNone/>
              <a:defRPr sz="4640" b="1"/>
            </a:lvl4pPr>
            <a:lvl5pPr marL="5303520" indent="0">
              <a:buNone/>
              <a:defRPr sz="4640" b="1"/>
            </a:lvl5pPr>
            <a:lvl6pPr marL="6629400" indent="0">
              <a:buNone/>
              <a:defRPr sz="4640" b="1"/>
            </a:lvl6pPr>
            <a:lvl7pPr marL="7955280" indent="0">
              <a:buNone/>
              <a:defRPr sz="4640" b="1"/>
            </a:lvl7pPr>
            <a:lvl8pPr marL="9281160" indent="0">
              <a:buNone/>
              <a:defRPr sz="4640" b="1"/>
            </a:lvl8pPr>
            <a:lvl9pPr marL="10607040" indent="0">
              <a:buNone/>
              <a:defRPr sz="4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424536" y="9352280"/>
            <a:ext cx="11273434" cy="13755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AD564-B736-0C45-B96E-1A374E4A831F}" type="datetimeFigureOut">
              <a:rPr lang="en-US" smtClean="0"/>
              <a:t>8/16/24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4290B-EA02-B14E-B6C6-20DDDEDEB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943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AD564-B736-0C45-B96E-1A374E4A831F}" type="datetimeFigureOut">
              <a:rPr lang="en-US" smtClean="0"/>
              <a:t>8/16/24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4290B-EA02-B14E-B6C6-20DDDEDEB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742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AD564-B736-0C45-B96E-1A374E4A831F}" type="datetimeFigureOut">
              <a:rPr lang="en-US" smtClean="0"/>
              <a:t>8/16/24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4290B-EA02-B14E-B6C6-20DDDEDEB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180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6539" y="1706880"/>
            <a:ext cx="8552616" cy="5974080"/>
          </a:xfrm>
        </p:spPr>
        <p:txBody>
          <a:bodyPr anchor="b"/>
          <a:lstStyle>
            <a:lvl1pPr>
              <a:defRPr sz="9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73434" y="3686392"/>
            <a:ext cx="13424535" cy="18194867"/>
          </a:xfrm>
        </p:spPr>
        <p:txBody>
          <a:bodyPr/>
          <a:lstStyle>
            <a:lvl1pPr>
              <a:defRPr sz="9280"/>
            </a:lvl1pPr>
            <a:lvl2pPr>
              <a:defRPr sz="8120"/>
            </a:lvl2pPr>
            <a:lvl3pPr>
              <a:defRPr sz="6960"/>
            </a:lvl3pPr>
            <a:lvl4pPr>
              <a:defRPr sz="5800"/>
            </a:lvl4pPr>
            <a:lvl5pPr>
              <a:defRPr sz="5800"/>
            </a:lvl5pPr>
            <a:lvl6pPr>
              <a:defRPr sz="5800"/>
            </a:lvl6pPr>
            <a:lvl7pPr>
              <a:defRPr sz="5800"/>
            </a:lvl7pPr>
            <a:lvl8pPr>
              <a:defRPr sz="5800"/>
            </a:lvl8pPr>
            <a:lvl9pPr>
              <a:defRPr sz="5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6539" y="7680960"/>
            <a:ext cx="8552616" cy="14229929"/>
          </a:xfrm>
        </p:spPr>
        <p:txBody>
          <a:bodyPr/>
          <a:lstStyle>
            <a:lvl1pPr marL="0" indent="0">
              <a:buNone/>
              <a:defRPr sz="4640"/>
            </a:lvl1pPr>
            <a:lvl2pPr marL="1325880" indent="0">
              <a:buNone/>
              <a:defRPr sz="4060"/>
            </a:lvl2pPr>
            <a:lvl3pPr marL="2651760" indent="0">
              <a:buNone/>
              <a:defRPr sz="3480"/>
            </a:lvl3pPr>
            <a:lvl4pPr marL="3977640" indent="0">
              <a:buNone/>
              <a:defRPr sz="2900"/>
            </a:lvl4pPr>
            <a:lvl5pPr marL="5303520" indent="0">
              <a:buNone/>
              <a:defRPr sz="2900"/>
            </a:lvl5pPr>
            <a:lvl6pPr marL="6629400" indent="0">
              <a:buNone/>
              <a:defRPr sz="2900"/>
            </a:lvl6pPr>
            <a:lvl7pPr marL="7955280" indent="0">
              <a:buNone/>
              <a:defRPr sz="2900"/>
            </a:lvl7pPr>
            <a:lvl8pPr marL="9281160" indent="0">
              <a:buNone/>
              <a:defRPr sz="2900"/>
            </a:lvl8pPr>
            <a:lvl9pPr marL="10607040" indent="0">
              <a:buNone/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AD564-B736-0C45-B96E-1A374E4A831F}" type="datetimeFigureOut">
              <a:rPr lang="en-US" smtClean="0"/>
              <a:t>8/16/24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4290B-EA02-B14E-B6C6-20DDDEDEB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82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6539" y="1706880"/>
            <a:ext cx="8552616" cy="5974080"/>
          </a:xfrm>
        </p:spPr>
        <p:txBody>
          <a:bodyPr anchor="b"/>
          <a:lstStyle>
            <a:lvl1pPr>
              <a:defRPr sz="9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273434" y="3686392"/>
            <a:ext cx="13424535" cy="18194867"/>
          </a:xfrm>
        </p:spPr>
        <p:txBody>
          <a:bodyPr anchor="t"/>
          <a:lstStyle>
            <a:lvl1pPr marL="0" indent="0">
              <a:buNone/>
              <a:defRPr sz="9280"/>
            </a:lvl1pPr>
            <a:lvl2pPr marL="1325880" indent="0">
              <a:buNone/>
              <a:defRPr sz="8120"/>
            </a:lvl2pPr>
            <a:lvl3pPr marL="2651760" indent="0">
              <a:buNone/>
              <a:defRPr sz="6960"/>
            </a:lvl3pPr>
            <a:lvl4pPr marL="3977640" indent="0">
              <a:buNone/>
              <a:defRPr sz="5800"/>
            </a:lvl4pPr>
            <a:lvl5pPr marL="5303520" indent="0">
              <a:buNone/>
              <a:defRPr sz="5800"/>
            </a:lvl5pPr>
            <a:lvl6pPr marL="6629400" indent="0">
              <a:buNone/>
              <a:defRPr sz="5800"/>
            </a:lvl6pPr>
            <a:lvl7pPr marL="7955280" indent="0">
              <a:buNone/>
              <a:defRPr sz="5800"/>
            </a:lvl7pPr>
            <a:lvl8pPr marL="9281160" indent="0">
              <a:buNone/>
              <a:defRPr sz="5800"/>
            </a:lvl8pPr>
            <a:lvl9pPr marL="10607040" indent="0">
              <a:buNone/>
              <a:defRPr sz="5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6539" y="7680960"/>
            <a:ext cx="8552616" cy="14229929"/>
          </a:xfrm>
        </p:spPr>
        <p:txBody>
          <a:bodyPr/>
          <a:lstStyle>
            <a:lvl1pPr marL="0" indent="0">
              <a:buNone/>
              <a:defRPr sz="4640"/>
            </a:lvl1pPr>
            <a:lvl2pPr marL="1325880" indent="0">
              <a:buNone/>
              <a:defRPr sz="4060"/>
            </a:lvl2pPr>
            <a:lvl3pPr marL="2651760" indent="0">
              <a:buNone/>
              <a:defRPr sz="3480"/>
            </a:lvl3pPr>
            <a:lvl4pPr marL="3977640" indent="0">
              <a:buNone/>
              <a:defRPr sz="2900"/>
            </a:lvl4pPr>
            <a:lvl5pPr marL="5303520" indent="0">
              <a:buNone/>
              <a:defRPr sz="2900"/>
            </a:lvl5pPr>
            <a:lvl6pPr marL="6629400" indent="0">
              <a:buNone/>
              <a:defRPr sz="2900"/>
            </a:lvl6pPr>
            <a:lvl7pPr marL="7955280" indent="0">
              <a:buNone/>
              <a:defRPr sz="2900"/>
            </a:lvl7pPr>
            <a:lvl8pPr marL="9281160" indent="0">
              <a:buNone/>
              <a:defRPr sz="2900"/>
            </a:lvl8pPr>
            <a:lvl9pPr marL="10607040" indent="0">
              <a:buNone/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AD564-B736-0C45-B96E-1A374E4A831F}" type="datetimeFigureOut">
              <a:rPr lang="en-US" smtClean="0"/>
              <a:t>8/16/24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4290B-EA02-B14E-B6C6-20DDDEDEB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532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AD564-B736-0C45-B96E-1A374E4A831F}" type="datetimeFigureOut">
              <a:rPr lang="en-US" smtClean="0"/>
              <a:t>8/16/24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4290B-EA02-B14E-B6C6-20DDDEDEB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674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976659" y="1363133"/>
            <a:ext cx="5717858" cy="216975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23086" y="1363133"/>
            <a:ext cx="16822103" cy="216975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AD564-B736-0C45-B96E-1A374E4A831F}" type="datetimeFigureOut">
              <a:rPr lang="en-US" smtClean="0"/>
              <a:t>8/16/24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4290B-EA02-B14E-B6C6-20DDDEDEB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078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23085" y="1363139"/>
            <a:ext cx="22871430" cy="4948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3085" y="6815667"/>
            <a:ext cx="22871430" cy="16244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23085" y="23730379"/>
            <a:ext cx="5966460" cy="1363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8AD564-B736-0C45-B96E-1A374E4A831F}" type="datetimeFigureOut">
              <a:rPr lang="en-US" smtClean="0"/>
              <a:t>8/16/24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783955" y="23730379"/>
            <a:ext cx="8949690" cy="1363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728055" y="23730379"/>
            <a:ext cx="5966460" cy="1363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4290B-EA02-B14E-B6C6-20DDDEDEB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41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l" defTabSz="2651760" rtl="0" eaLnBrk="1" latinLnBrk="0" hangingPunct="1">
        <a:lnSpc>
          <a:spcPct val="90000"/>
        </a:lnSpc>
        <a:spcBef>
          <a:spcPct val="0"/>
        </a:spcBef>
        <a:buNone/>
        <a:defRPr sz="12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62940" indent="-662940" algn="l" defTabSz="2651760" rtl="0" eaLnBrk="1" latinLnBrk="0" hangingPunct="1">
        <a:lnSpc>
          <a:spcPct val="90000"/>
        </a:lnSpc>
        <a:spcBef>
          <a:spcPts val="2900"/>
        </a:spcBef>
        <a:buFont typeface="Arial" panose="020B0604020202020204" pitchFamily="34" charset="0"/>
        <a:buChar char="•"/>
        <a:defRPr sz="8120" kern="1200">
          <a:solidFill>
            <a:schemeClr val="tx1"/>
          </a:solidFill>
          <a:latin typeface="+mn-lt"/>
          <a:ea typeface="+mn-ea"/>
          <a:cs typeface="+mn-cs"/>
        </a:defRPr>
      </a:lvl1pPr>
      <a:lvl2pPr marL="1988820" indent="-662940" algn="l" defTabSz="2651760" rtl="0" eaLnBrk="1" latinLnBrk="0" hangingPunct="1">
        <a:lnSpc>
          <a:spcPct val="90000"/>
        </a:lnSpc>
        <a:spcBef>
          <a:spcPts val="1450"/>
        </a:spcBef>
        <a:buFont typeface="Arial" panose="020B0604020202020204" pitchFamily="34" charset="0"/>
        <a:buChar char="•"/>
        <a:defRPr sz="6960" kern="1200">
          <a:solidFill>
            <a:schemeClr val="tx1"/>
          </a:solidFill>
          <a:latin typeface="+mn-lt"/>
          <a:ea typeface="+mn-ea"/>
          <a:cs typeface="+mn-cs"/>
        </a:defRPr>
      </a:lvl2pPr>
      <a:lvl3pPr marL="3314700" indent="-662940" algn="l" defTabSz="2651760" rtl="0" eaLnBrk="1" latinLnBrk="0" hangingPunct="1">
        <a:lnSpc>
          <a:spcPct val="90000"/>
        </a:lnSpc>
        <a:spcBef>
          <a:spcPts val="1450"/>
        </a:spcBef>
        <a:buFont typeface="Arial" panose="020B0604020202020204" pitchFamily="34" charset="0"/>
        <a:buChar char="•"/>
        <a:defRPr sz="5800" kern="1200">
          <a:solidFill>
            <a:schemeClr val="tx1"/>
          </a:solidFill>
          <a:latin typeface="+mn-lt"/>
          <a:ea typeface="+mn-ea"/>
          <a:cs typeface="+mn-cs"/>
        </a:defRPr>
      </a:lvl3pPr>
      <a:lvl4pPr marL="4640580" indent="-662940" algn="l" defTabSz="2651760" rtl="0" eaLnBrk="1" latinLnBrk="0" hangingPunct="1">
        <a:lnSpc>
          <a:spcPct val="90000"/>
        </a:lnSpc>
        <a:spcBef>
          <a:spcPts val="1450"/>
        </a:spcBef>
        <a:buFont typeface="Arial" panose="020B0604020202020204" pitchFamily="34" charset="0"/>
        <a:buChar char="•"/>
        <a:defRPr sz="5220" kern="1200">
          <a:solidFill>
            <a:schemeClr val="tx1"/>
          </a:solidFill>
          <a:latin typeface="+mn-lt"/>
          <a:ea typeface="+mn-ea"/>
          <a:cs typeface="+mn-cs"/>
        </a:defRPr>
      </a:lvl4pPr>
      <a:lvl5pPr marL="5966460" indent="-662940" algn="l" defTabSz="2651760" rtl="0" eaLnBrk="1" latinLnBrk="0" hangingPunct="1">
        <a:lnSpc>
          <a:spcPct val="90000"/>
        </a:lnSpc>
        <a:spcBef>
          <a:spcPts val="1450"/>
        </a:spcBef>
        <a:buFont typeface="Arial" panose="020B0604020202020204" pitchFamily="34" charset="0"/>
        <a:buChar char="•"/>
        <a:defRPr sz="5220" kern="1200">
          <a:solidFill>
            <a:schemeClr val="tx1"/>
          </a:solidFill>
          <a:latin typeface="+mn-lt"/>
          <a:ea typeface="+mn-ea"/>
          <a:cs typeface="+mn-cs"/>
        </a:defRPr>
      </a:lvl5pPr>
      <a:lvl6pPr marL="7292340" indent="-662940" algn="l" defTabSz="2651760" rtl="0" eaLnBrk="1" latinLnBrk="0" hangingPunct="1">
        <a:lnSpc>
          <a:spcPct val="90000"/>
        </a:lnSpc>
        <a:spcBef>
          <a:spcPts val="1450"/>
        </a:spcBef>
        <a:buFont typeface="Arial" panose="020B0604020202020204" pitchFamily="34" charset="0"/>
        <a:buChar char="•"/>
        <a:defRPr sz="5220" kern="1200">
          <a:solidFill>
            <a:schemeClr val="tx1"/>
          </a:solidFill>
          <a:latin typeface="+mn-lt"/>
          <a:ea typeface="+mn-ea"/>
          <a:cs typeface="+mn-cs"/>
        </a:defRPr>
      </a:lvl6pPr>
      <a:lvl7pPr marL="8618220" indent="-662940" algn="l" defTabSz="2651760" rtl="0" eaLnBrk="1" latinLnBrk="0" hangingPunct="1">
        <a:lnSpc>
          <a:spcPct val="90000"/>
        </a:lnSpc>
        <a:spcBef>
          <a:spcPts val="1450"/>
        </a:spcBef>
        <a:buFont typeface="Arial" panose="020B0604020202020204" pitchFamily="34" charset="0"/>
        <a:buChar char="•"/>
        <a:defRPr sz="5220" kern="1200">
          <a:solidFill>
            <a:schemeClr val="tx1"/>
          </a:solidFill>
          <a:latin typeface="+mn-lt"/>
          <a:ea typeface="+mn-ea"/>
          <a:cs typeface="+mn-cs"/>
        </a:defRPr>
      </a:lvl7pPr>
      <a:lvl8pPr marL="9944100" indent="-662940" algn="l" defTabSz="2651760" rtl="0" eaLnBrk="1" latinLnBrk="0" hangingPunct="1">
        <a:lnSpc>
          <a:spcPct val="90000"/>
        </a:lnSpc>
        <a:spcBef>
          <a:spcPts val="1450"/>
        </a:spcBef>
        <a:buFont typeface="Arial" panose="020B0604020202020204" pitchFamily="34" charset="0"/>
        <a:buChar char="•"/>
        <a:defRPr sz="5220" kern="1200">
          <a:solidFill>
            <a:schemeClr val="tx1"/>
          </a:solidFill>
          <a:latin typeface="+mn-lt"/>
          <a:ea typeface="+mn-ea"/>
          <a:cs typeface="+mn-cs"/>
        </a:defRPr>
      </a:lvl8pPr>
      <a:lvl9pPr marL="11269980" indent="-662940" algn="l" defTabSz="2651760" rtl="0" eaLnBrk="1" latinLnBrk="0" hangingPunct="1">
        <a:lnSpc>
          <a:spcPct val="90000"/>
        </a:lnSpc>
        <a:spcBef>
          <a:spcPts val="1450"/>
        </a:spcBef>
        <a:buFont typeface="Arial" panose="020B0604020202020204" pitchFamily="34" charset="0"/>
        <a:buChar char="•"/>
        <a:defRPr sz="52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651760" rtl="0" eaLnBrk="1" latinLnBrk="0" hangingPunct="1">
        <a:defRPr sz="5220" kern="1200">
          <a:solidFill>
            <a:schemeClr val="tx1"/>
          </a:solidFill>
          <a:latin typeface="+mn-lt"/>
          <a:ea typeface="+mn-ea"/>
          <a:cs typeface="+mn-cs"/>
        </a:defRPr>
      </a:lvl1pPr>
      <a:lvl2pPr marL="1325880" algn="l" defTabSz="2651760" rtl="0" eaLnBrk="1" latinLnBrk="0" hangingPunct="1">
        <a:defRPr sz="5220" kern="1200">
          <a:solidFill>
            <a:schemeClr val="tx1"/>
          </a:solidFill>
          <a:latin typeface="+mn-lt"/>
          <a:ea typeface="+mn-ea"/>
          <a:cs typeface="+mn-cs"/>
        </a:defRPr>
      </a:lvl2pPr>
      <a:lvl3pPr marL="2651760" algn="l" defTabSz="2651760" rtl="0" eaLnBrk="1" latinLnBrk="0" hangingPunct="1">
        <a:defRPr sz="5220" kern="1200">
          <a:solidFill>
            <a:schemeClr val="tx1"/>
          </a:solidFill>
          <a:latin typeface="+mn-lt"/>
          <a:ea typeface="+mn-ea"/>
          <a:cs typeface="+mn-cs"/>
        </a:defRPr>
      </a:lvl3pPr>
      <a:lvl4pPr marL="3977640" algn="l" defTabSz="2651760" rtl="0" eaLnBrk="1" latinLnBrk="0" hangingPunct="1">
        <a:defRPr sz="5220" kern="1200">
          <a:solidFill>
            <a:schemeClr val="tx1"/>
          </a:solidFill>
          <a:latin typeface="+mn-lt"/>
          <a:ea typeface="+mn-ea"/>
          <a:cs typeface="+mn-cs"/>
        </a:defRPr>
      </a:lvl4pPr>
      <a:lvl5pPr marL="5303520" algn="l" defTabSz="2651760" rtl="0" eaLnBrk="1" latinLnBrk="0" hangingPunct="1">
        <a:defRPr sz="5220" kern="1200">
          <a:solidFill>
            <a:schemeClr val="tx1"/>
          </a:solidFill>
          <a:latin typeface="+mn-lt"/>
          <a:ea typeface="+mn-ea"/>
          <a:cs typeface="+mn-cs"/>
        </a:defRPr>
      </a:lvl5pPr>
      <a:lvl6pPr marL="6629400" algn="l" defTabSz="2651760" rtl="0" eaLnBrk="1" latinLnBrk="0" hangingPunct="1">
        <a:defRPr sz="5220" kern="1200">
          <a:solidFill>
            <a:schemeClr val="tx1"/>
          </a:solidFill>
          <a:latin typeface="+mn-lt"/>
          <a:ea typeface="+mn-ea"/>
          <a:cs typeface="+mn-cs"/>
        </a:defRPr>
      </a:lvl6pPr>
      <a:lvl7pPr marL="7955280" algn="l" defTabSz="2651760" rtl="0" eaLnBrk="1" latinLnBrk="0" hangingPunct="1">
        <a:defRPr sz="5220" kern="1200">
          <a:solidFill>
            <a:schemeClr val="tx1"/>
          </a:solidFill>
          <a:latin typeface="+mn-lt"/>
          <a:ea typeface="+mn-ea"/>
          <a:cs typeface="+mn-cs"/>
        </a:defRPr>
      </a:lvl7pPr>
      <a:lvl8pPr marL="9281160" algn="l" defTabSz="2651760" rtl="0" eaLnBrk="1" latinLnBrk="0" hangingPunct="1">
        <a:defRPr sz="5220" kern="1200">
          <a:solidFill>
            <a:schemeClr val="tx1"/>
          </a:solidFill>
          <a:latin typeface="+mn-lt"/>
          <a:ea typeface="+mn-ea"/>
          <a:cs typeface="+mn-cs"/>
        </a:defRPr>
      </a:lvl8pPr>
      <a:lvl9pPr marL="10607040" algn="l" defTabSz="2651760" rtl="0" eaLnBrk="1" latinLnBrk="0" hangingPunct="1">
        <a:defRPr sz="52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A4D0613F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30F31-B5CA-2089-5ACE-D584D5BE974A}"/>
              </a:ext>
            </a:extLst>
          </p:cNvPr>
          <p:cNvSpPr/>
          <p:nvPr/>
        </p:nvSpPr>
        <p:spPr>
          <a:xfrm>
            <a:off x="0" y="482600"/>
            <a:ext cx="26517600" cy="17297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ounded Rectangle 160">
            <a:extLst>
              <a:ext uri="{FF2B5EF4-FFF2-40B4-BE49-F238E27FC236}">
                <a16:creationId xmlns:a16="http://schemas.microsoft.com/office/drawing/2014/main" id="{4169907C-1CB1-8CD8-8EEE-6889DA97CB29}"/>
              </a:ext>
            </a:extLst>
          </p:cNvPr>
          <p:cNvSpPr/>
          <p:nvPr/>
        </p:nvSpPr>
        <p:spPr>
          <a:xfrm>
            <a:off x="10220890" y="7238325"/>
            <a:ext cx="6691310" cy="1458960"/>
          </a:xfrm>
          <a:custGeom>
            <a:avLst/>
            <a:gdLst>
              <a:gd name="connsiteX0" fmla="*/ 0 w 4114800"/>
              <a:gd name="connsiteY0" fmla="*/ 242321 h 1453896"/>
              <a:gd name="connsiteX1" fmla="*/ 242321 w 4114800"/>
              <a:gd name="connsiteY1" fmla="*/ 0 h 1453896"/>
              <a:gd name="connsiteX2" fmla="*/ 3872479 w 4114800"/>
              <a:gd name="connsiteY2" fmla="*/ 0 h 1453896"/>
              <a:gd name="connsiteX3" fmla="*/ 4114800 w 4114800"/>
              <a:gd name="connsiteY3" fmla="*/ 242321 h 1453896"/>
              <a:gd name="connsiteX4" fmla="*/ 4114800 w 4114800"/>
              <a:gd name="connsiteY4" fmla="*/ 1211575 h 1453896"/>
              <a:gd name="connsiteX5" fmla="*/ 3872479 w 4114800"/>
              <a:gd name="connsiteY5" fmla="*/ 1453896 h 1453896"/>
              <a:gd name="connsiteX6" fmla="*/ 242321 w 4114800"/>
              <a:gd name="connsiteY6" fmla="*/ 1453896 h 1453896"/>
              <a:gd name="connsiteX7" fmla="*/ 0 w 4114800"/>
              <a:gd name="connsiteY7" fmla="*/ 1211575 h 1453896"/>
              <a:gd name="connsiteX8" fmla="*/ 0 w 4114800"/>
              <a:gd name="connsiteY8" fmla="*/ 242321 h 1453896"/>
              <a:gd name="connsiteX0" fmla="*/ 0 w 4126089"/>
              <a:gd name="connsiteY0" fmla="*/ 242321 h 1454066"/>
              <a:gd name="connsiteX1" fmla="*/ 242321 w 4126089"/>
              <a:gd name="connsiteY1" fmla="*/ 0 h 1454066"/>
              <a:gd name="connsiteX2" fmla="*/ 3872479 w 4126089"/>
              <a:gd name="connsiteY2" fmla="*/ 0 h 1454066"/>
              <a:gd name="connsiteX3" fmla="*/ 4114800 w 4126089"/>
              <a:gd name="connsiteY3" fmla="*/ 242321 h 1454066"/>
              <a:gd name="connsiteX4" fmla="*/ 4126089 w 4126089"/>
              <a:gd name="connsiteY4" fmla="*/ 1330108 h 1454066"/>
              <a:gd name="connsiteX5" fmla="*/ 3872479 w 4126089"/>
              <a:gd name="connsiteY5" fmla="*/ 1453896 h 1454066"/>
              <a:gd name="connsiteX6" fmla="*/ 242321 w 4126089"/>
              <a:gd name="connsiteY6" fmla="*/ 1453896 h 1454066"/>
              <a:gd name="connsiteX7" fmla="*/ 0 w 4126089"/>
              <a:gd name="connsiteY7" fmla="*/ 1211575 h 1454066"/>
              <a:gd name="connsiteX8" fmla="*/ 0 w 4126089"/>
              <a:gd name="connsiteY8" fmla="*/ 242321 h 1454066"/>
              <a:gd name="connsiteX0" fmla="*/ 0 w 4126089"/>
              <a:gd name="connsiteY0" fmla="*/ 242321 h 1458960"/>
              <a:gd name="connsiteX1" fmla="*/ 242321 w 4126089"/>
              <a:gd name="connsiteY1" fmla="*/ 0 h 1458960"/>
              <a:gd name="connsiteX2" fmla="*/ 3872479 w 4126089"/>
              <a:gd name="connsiteY2" fmla="*/ 0 h 1458960"/>
              <a:gd name="connsiteX3" fmla="*/ 4114800 w 4126089"/>
              <a:gd name="connsiteY3" fmla="*/ 242321 h 1458960"/>
              <a:gd name="connsiteX4" fmla="*/ 4126089 w 4126089"/>
              <a:gd name="connsiteY4" fmla="*/ 1330108 h 1458960"/>
              <a:gd name="connsiteX5" fmla="*/ 3872479 w 4126089"/>
              <a:gd name="connsiteY5" fmla="*/ 1453896 h 1458960"/>
              <a:gd name="connsiteX6" fmla="*/ 242321 w 4126089"/>
              <a:gd name="connsiteY6" fmla="*/ 1453896 h 1458960"/>
              <a:gd name="connsiteX7" fmla="*/ 0 w 4126089"/>
              <a:gd name="connsiteY7" fmla="*/ 1358330 h 1458960"/>
              <a:gd name="connsiteX8" fmla="*/ 0 w 4126089"/>
              <a:gd name="connsiteY8" fmla="*/ 242321 h 145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6089" h="1458960">
                <a:moveTo>
                  <a:pt x="0" y="242321"/>
                </a:moveTo>
                <a:cubicBezTo>
                  <a:pt x="0" y="108491"/>
                  <a:pt x="108491" y="0"/>
                  <a:pt x="242321" y="0"/>
                </a:cubicBezTo>
                <a:lnTo>
                  <a:pt x="3872479" y="0"/>
                </a:lnTo>
                <a:cubicBezTo>
                  <a:pt x="4006309" y="0"/>
                  <a:pt x="4114800" y="108491"/>
                  <a:pt x="4114800" y="242321"/>
                </a:cubicBezTo>
                <a:cubicBezTo>
                  <a:pt x="4114800" y="565406"/>
                  <a:pt x="4126089" y="1007023"/>
                  <a:pt x="4126089" y="1330108"/>
                </a:cubicBezTo>
                <a:cubicBezTo>
                  <a:pt x="4126089" y="1463938"/>
                  <a:pt x="4006309" y="1453896"/>
                  <a:pt x="3872479" y="1453896"/>
                </a:cubicBezTo>
                <a:lnTo>
                  <a:pt x="242321" y="1453896"/>
                </a:lnTo>
                <a:cubicBezTo>
                  <a:pt x="108491" y="1453896"/>
                  <a:pt x="0" y="1492160"/>
                  <a:pt x="0" y="1358330"/>
                </a:cubicBezTo>
                <a:lnTo>
                  <a:pt x="0" y="242321"/>
                </a:lnTo>
                <a:close/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3" name="Rounded Rectangle 160">
            <a:extLst>
              <a:ext uri="{FF2B5EF4-FFF2-40B4-BE49-F238E27FC236}">
                <a16:creationId xmlns:a16="http://schemas.microsoft.com/office/drawing/2014/main" id="{526312A4-C920-BF8B-F2D5-A503071705DF}"/>
              </a:ext>
            </a:extLst>
          </p:cNvPr>
          <p:cNvSpPr/>
          <p:nvPr/>
        </p:nvSpPr>
        <p:spPr>
          <a:xfrm>
            <a:off x="711015" y="7172742"/>
            <a:ext cx="6691310" cy="1458960"/>
          </a:xfrm>
          <a:custGeom>
            <a:avLst/>
            <a:gdLst>
              <a:gd name="connsiteX0" fmla="*/ 0 w 4114800"/>
              <a:gd name="connsiteY0" fmla="*/ 242321 h 1453896"/>
              <a:gd name="connsiteX1" fmla="*/ 242321 w 4114800"/>
              <a:gd name="connsiteY1" fmla="*/ 0 h 1453896"/>
              <a:gd name="connsiteX2" fmla="*/ 3872479 w 4114800"/>
              <a:gd name="connsiteY2" fmla="*/ 0 h 1453896"/>
              <a:gd name="connsiteX3" fmla="*/ 4114800 w 4114800"/>
              <a:gd name="connsiteY3" fmla="*/ 242321 h 1453896"/>
              <a:gd name="connsiteX4" fmla="*/ 4114800 w 4114800"/>
              <a:gd name="connsiteY4" fmla="*/ 1211575 h 1453896"/>
              <a:gd name="connsiteX5" fmla="*/ 3872479 w 4114800"/>
              <a:gd name="connsiteY5" fmla="*/ 1453896 h 1453896"/>
              <a:gd name="connsiteX6" fmla="*/ 242321 w 4114800"/>
              <a:gd name="connsiteY6" fmla="*/ 1453896 h 1453896"/>
              <a:gd name="connsiteX7" fmla="*/ 0 w 4114800"/>
              <a:gd name="connsiteY7" fmla="*/ 1211575 h 1453896"/>
              <a:gd name="connsiteX8" fmla="*/ 0 w 4114800"/>
              <a:gd name="connsiteY8" fmla="*/ 242321 h 1453896"/>
              <a:gd name="connsiteX0" fmla="*/ 0 w 4126089"/>
              <a:gd name="connsiteY0" fmla="*/ 242321 h 1454066"/>
              <a:gd name="connsiteX1" fmla="*/ 242321 w 4126089"/>
              <a:gd name="connsiteY1" fmla="*/ 0 h 1454066"/>
              <a:gd name="connsiteX2" fmla="*/ 3872479 w 4126089"/>
              <a:gd name="connsiteY2" fmla="*/ 0 h 1454066"/>
              <a:gd name="connsiteX3" fmla="*/ 4114800 w 4126089"/>
              <a:gd name="connsiteY3" fmla="*/ 242321 h 1454066"/>
              <a:gd name="connsiteX4" fmla="*/ 4126089 w 4126089"/>
              <a:gd name="connsiteY4" fmla="*/ 1330108 h 1454066"/>
              <a:gd name="connsiteX5" fmla="*/ 3872479 w 4126089"/>
              <a:gd name="connsiteY5" fmla="*/ 1453896 h 1454066"/>
              <a:gd name="connsiteX6" fmla="*/ 242321 w 4126089"/>
              <a:gd name="connsiteY6" fmla="*/ 1453896 h 1454066"/>
              <a:gd name="connsiteX7" fmla="*/ 0 w 4126089"/>
              <a:gd name="connsiteY7" fmla="*/ 1211575 h 1454066"/>
              <a:gd name="connsiteX8" fmla="*/ 0 w 4126089"/>
              <a:gd name="connsiteY8" fmla="*/ 242321 h 1454066"/>
              <a:gd name="connsiteX0" fmla="*/ 0 w 4126089"/>
              <a:gd name="connsiteY0" fmla="*/ 242321 h 1458960"/>
              <a:gd name="connsiteX1" fmla="*/ 242321 w 4126089"/>
              <a:gd name="connsiteY1" fmla="*/ 0 h 1458960"/>
              <a:gd name="connsiteX2" fmla="*/ 3872479 w 4126089"/>
              <a:gd name="connsiteY2" fmla="*/ 0 h 1458960"/>
              <a:gd name="connsiteX3" fmla="*/ 4114800 w 4126089"/>
              <a:gd name="connsiteY3" fmla="*/ 242321 h 1458960"/>
              <a:gd name="connsiteX4" fmla="*/ 4126089 w 4126089"/>
              <a:gd name="connsiteY4" fmla="*/ 1330108 h 1458960"/>
              <a:gd name="connsiteX5" fmla="*/ 3872479 w 4126089"/>
              <a:gd name="connsiteY5" fmla="*/ 1453896 h 1458960"/>
              <a:gd name="connsiteX6" fmla="*/ 242321 w 4126089"/>
              <a:gd name="connsiteY6" fmla="*/ 1453896 h 1458960"/>
              <a:gd name="connsiteX7" fmla="*/ 0 w 4126089"/>
              <a:gd name="connsiteY7" fmla="*/ 1358330 h 1458960"/>
              <a:gd name="connsiteX8" fmla="*/ 0 w 4126089"/>
              <a:gd name="connsiteY8" fmla="*/ 242321 h 145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6089" h="1458960">
                <a:moveTo>
                  <a:pt x="0" y="242321"/>
                </a:moveTo>
                <a:cubicBezTo>
                  <a:pt x="0" y="108491"/>
                  <a:pt x="108491" y="0"/>
                  <a:pt x="242321" y="0"/>
                </a:cubicBezTo>
                <a:lnTo>
                  <a:pt x="3872479" y="0"/>
                </a:lnTo>
                <a:cubicBezTo>
                  <a:pt x="4006309" y="0"/>
                  <a:pt x="4114800" y="108491"/>
                  <a:pt x="4114800" y="242321"/>
                </a:cubicBezTo>
                <a:cubicBezTo>
                  <a:pt x="4114800" y="565406"/>
                  <a:pt x="4126089" y="1007023"/>
                  <a:pt x="4126089" y="1330108"/>
                </a:cubicBezTo>
                <a:cubicBezTo>
                  <a:pt x="4126089" y="1463938"/>
                  <a:pt x="4006309" y="1453896"/>
                  <a:pt x="3872479" y="1453896"/>
                </a:cubicBezTo>
                <a:lnTo>
                  <a:pt x="242321" y="1453896"/>
                </a:lnTo>
                <a:cubicBezTo>
                  <a:pt x="108491" y="1453896"/>
                  <a:pt x="0" y="1492160"/>
                  <a:pt x="0" y="1358330"/>
                </a:cubicBezTo>
                <a:lnTo>
                  <a:pt x="0" y="242321"/>
                </a:lnTo>
                <a:close/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" name="Rounded Rectangle 160">
            <a:extLst>
              <a:ext uri="{FF2B5EF4-FFF2-40B4-BE49-F238E27FC236}">
                <a16:creationId xmlns:a16="http://schemas.microsoft.com/office/drawing/2014/main" id="{9BA955DD-B064-21AF-CCEE-365A3DC63600}"/>
              </a:ext>
            </a:extLst>
          </p:cNvPr>
          <p:cNvSpPr/>
          <p:nvPr/>
        </p:nvSpPr>
        <p:spPr>
          <a:xfrm>
            <a:off x="18613059" y="7172742"/>
            <a:ext cx="6691310" cy="1458960"/>
          </a:xfrm>
          <a:custGeom>
            <a:avLst/>
            <a:gdLst>
              <a:gd name="connsiteX0" fmla="*/ 0 w 4114800"/>
              <a:gd name="connsiteY0" fmla="*/ 242321 h 1453896"/>
              <a:gd name="connsiteX1" fmla="*/ 242321 w 4114800"/>
              <a:gd name="connsiteY1" fmla="*/ 0 h 1453896"/>
              <a:gd name="connsiteX2" fmla="*/ 3872479 w 4114800"/>
              <a:gd name="connsiteY2" fmla="*/ 0 h 1453896"/>
              <a:gd name="connsiteX3" fmla="*/ 4114800 w 4114800"/>
              <a:gd name="connsiteY3" fmla="*/ 242321 h 1453896"/>
              <a:gd name="connsiteX4" fmla="*/ 4114800 w 4114800"/>
              <a:gd name="connsiteY4" fmla="*/ 1211575 h 1453896"/>
              <a:gd name="connsiteX5" fmla="*/ 3872479 w 4114800"/>
              <a:gd name="connsiteY5" fmla="*/ 1453896 h 1453896"/>
              <a:gd name="connsiteX6" fmla="*/ 242321 w 4114800"/>
              <a:gd name="connsiteY6" fmla="*/ 1453896 h 1453896"/>
              <a:gd name="connsiteX7" fmla="*/ 0 w 4114800"/>
              <a:gd name="connsiteY7" fmla="*/ 1211575 h 1453896"/>
              <a:gd name="connsiteX8" fmla="*/ 0 w 4114800"/>
              <a:gd name="connsiteY8" fmla="*/ 242321 h 1453896"/>
              <a:gd name="connsiteX0" fmla="*/ 0 w 4126089"/>
              <a:gd name="connsiteY0" fmla="*/ 242321 h 1454066"/>
              <a:gd name="connsiteX1" fmla="*/ 242321 w 4126089"/>
              <a:gd name="connsiteY1" fmla="*/ 0 h 1454066"/>
              <a:gd name="connsiteX2" fmla="*/ 3872479 w 4126089"/>
              <a:gd name="connsiteY2" fmla="*/ 0 h 1454066"/>
              <a:gd name="connsiteX3" fmla="*/ 4114800 w 4126089"/>
              <a:gd name="connsiteY3" fmla="*/ 242321 h 1454066"/>
              <a:gd name="connsiteX4" fmla="*/ 4126089 w 4126089"/>
              <a:gd name="connsiteY4" fmla="*/ 1330108 h 1454066"/>
              <a:gd name="connsiteX5" fmla="*/ 3872479 w 4126089"/>
              <a:gd name="connsiteY5" fmla="*/ 1453896 h 1454066"/>
              <a:gd name="connsiteX6" fmla="*/ 242321 w 4126089"/>
              <a:gd name="connsiteY6" fmla="*/ 1453896 h 1454066"/>
              <a:gd name="connsiteX7" fmla="*/ 0 w 4126089"/>
              <a:gd name="connsiteY7" fmla="*/ 1211575 h 1454066"/>
              <a:gd name="connsiteX8" fmla="*/ 0 w 4126089"/>
              <a:gd name="connsiteY8" fmla="*/ 242321 h 1454066"/>
              <a:gd name="connsiteX0" fmla="*/ 0 w 4126089"/>
              <a:gd name="connsiteY0" fmla="*/ 242321 h 1458960"/>
              <a:gd name="connsiteX1" fmla="*/ 242321 w 4126089"/>
              <a:gd name="connsiteY1" fmla="*/ 0 h 1458960"/>
              <a:gd name="connsiteX2" fmla="*/ 3872479 w 4126089"/>
              <a:gd name="connsiteY2" fmla="*/ 0 h 1458960"/>
              <a:gd name="connsiteX3" fmla="*/ 4114800 w 4126089"/>
              <a:gd name="connsiteY3" fmla="*/ 242321 h 1458960"/>
              <a:gd name="connsiteX4" fmla="*/ 4126089 w 4126089"/>
              <a:gd name="connsiteY4" fmla="*/ 1330108 h 1458960"/>
              <a:gd name="connsiteX5" fmla="*/ 3872479 w 4126089"/>
              <a:gd name="connsiteY5" fmla="*/ 1453896 h 1458960"/>
              <a:gd name="connsiteX6" fmla="*/ 242321 w 4126089"/>
              <a:gd name="connsiteY6" fmla="*/ 1453896 h 1458960"/>
              <a:gd name="connsiteX7" fmla="*/ 0 w 4126089"/>
              <a:gd name="connsiteY7" fmla="*/ 1358330 h 1458960"/>
              <a:gd name="connsiteX8" fmla="*/ 0 w 4126089"/>
              <a:gd name="connsiteY8" fmla="*/ 242321 h 145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6089" h="1458960">
                <a:moveTo>
                  <a:pt x="0" y="242321"/>
                </a:moveTo>
                <a:cubicBezTo>
                  <a:pt x="0" y="108491"/>
                  <a:pt x="108491" y="0"/>
                  <a:pt x="242321" y="0"/>
                </a:cubicBezTo>
                <a:lnTo>
                  <a:pt x="3872479" y="0"/>
                </a:lnTo>
                <a:cubicBezTo>
                  <a:pt x="4006309" y="0"/>
                  <a:pt x="4114800" y="108491"/>
                  <a:pt x="4114800" y="242321"/>
                </a:cubicBezTo>
                <a:cubicBezTo>
                  <a:pt x="4114800" y="565406"/>
                  <a:pt x="4126089" y="1007023"/>
                  <a:pt x="4126089" y="1330108"/>
                </a:cubicBezTo>
                <a:cubicBezTo>
                  <a:pt x="4126089" y="1463938"/>
                  <a:pt x="4006309" y="1453896"/>
                  <a:pt x="3872479" y="1453896"/>
                </a:cubicBezTo>
                <a:lnTo>
                  <a:pt x="242321" y="1453896"/>
                </a:lnTo>
                <a:cubicBezTo>
                  <a:pt x="108491" y="1453896"/>
                  <a:pt x="0" y="1492160"/>
                  <a:pt x="0" y="1358330"/>
                </a:cubicBezTo>
                <a:lnTo>
                  <a:pt x="0" y="242321"/>
                </a:lnTo>
                <a:close/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7" name="Rounded Rectangle 160">
            <a:extLst>
              <a:ext uri="{FF2B5EF4-FFF2-40B4-BE49-F238E27FC236}">
                <a16:creationId xmlns:a16="http://schemas.microsoft.com/office/drawing/2014/main" id="{D7214199-E114-B6A3-C3D6-E71ED978B7FF}"/>
              </a:ext>
            </a:extLst>
          </p:cNvPr>
          <p:cNvSpPr/>
          <p:nvPr/>
        </p:nvSpPr>
        <p:spPr>
          <a:xfrm>
            <a:off x="18628919" y="9313230"/>
            <a:ext cx="6691310" cy="1458960"/>
          </a:xfrm>
          <a:custGeom>
            <a:avLst/>
            <a:gdLst>
              <a:gd name="connsiteX0" fmla="*/ 0 w 4114800"/>
              <a:gd name="connsiteY0" fmla="*/ 242321 h 1453896"/>
              <a:gd name="connsiteX1" fmla="*/ 242321 w 4114800"/>
              <a:gd name="connsiteY1" fmla="*/ 0 h 1453896"/>
              <a:gd name="connsiteX2" fmla="*/ 3872479 w 4114800"/>
              <a:gd name="connsiteY2" fmla="*/ 0 h 1453896"/>
              <a:gd name="connsiteX3" fmla="*/ 4114800 w 4114800"/>
              <a:gd name="connsiteY3" fmla="*/ 242321 h 1453896"/>
              <a:gd name="connsiteX4" fmla="*/ 4114800 w 4114800"/>
              <a:gd name="connsiteY4" fmla="*/ 1211575 h 1453896"/>
              <a:gd name="connsiteX5" fmla="*/ 3872479 w 4114800"/>
              <a:gd name="connsiteY5" fmla="*/ 1453896 h 1453896"/>
              <a:gd name="connsiteX6" fmla="*/ 242321 w 4114800"/>
              <a:gd name="connsiteY6" fmla="*/ 1453896 h 1453896"/>
              <a:gd name="connsiteX7" fmla="*/ 0 w 4114800"/>
              <a:gd name="connsiteY7" fmla="*/ 1211575 h 1453896"/>
              <a:gd name="connsiteX8" fmla="*/ 0 w 4114800"/>
              <a:gd name="connsiteY8" fmla="*/ 242321 h 1453896"/>
              <a:gd name="connsiteX0" fmla="*/ 0 w 4126089"/>
              <a:gd name="connsiteY0" fmla="*/ 242321 h 1454066"/>
              <a:gd name="connsiteX1" fmla="*/ 242321 w 4126089"/>
              <a:gd name="connsiteY1" fmla="*/ 0 h 1454066"/>
              <a:gd name="connsiteX2" fmla="*/ 3872479 w 4126089"/>
              <a:gd name="connsiteY2" fmla="*/ 0 h 1454066"/>
              <a:gd name="connsiteX3" fmla="*/ 4114800 w 4126089"/>
              <a:gd name="connsiteY3" fmla="*/ 242321 h 1454066"/>
              <a:gd name="connsiteX4" fmla="*/ 4126089 w 4126089"/>
              <a:gd name="connsiteY4" fmla="*/ 1330108 h 1454066"/>
              <a:gd name="connsiteX5" fmla="*/ 3872479 w 4126089"/>
              <a:gd name="connsiteY5" fmla="*/ 1453896 h 1454066"/>
              <a:gd name="connsiteX6" fmla="*/ 242321 w 4126089"/>
              <a:gd name="connsiteY6" fmla="*/ 1453896 h 1454066"/>
              <a:gd name="connsiteX7" fmla="*/ 0 w 4126089"/>
              <a:gd name="connsiteY7" fmla="*/ 1211575 h 1454066"/>
              <a:gd name="connsiteX8" fmla="*/ 0 w 4126089"/>
              <a:gd name="connsiteY8" fmla="*/ 242321 h 1454066"/>
              <a:gd name="connsiteX0" fmla="*/ 0 w 4126089"/>
              <a:gd name="connsiteY0" fmla="*/ 242321 h 1458960"/>
              <a:gd name="connsiteX1" fmla="*/ 242321 w 4126089"/>
              <a:gd name="connsiteY1" fmla="*/ 0 h 1458960"/>
              <a:gd name="connsiteX2" fmla="*/ 3872479 w 4126089"/>
              <a:gd name="connsiteY2" fmla="*/ 0 h 1458960"/>
              <a:gd name="connsiteX3" fmla="*/ 4114800 w 4126089"/>
              <a:gd name="connsiteY3" fmla="*/ 242321 h 1458960"/>
              <a:gd name="connsiteX4" fmla="*/ 4126089 w 4126089"/>
              <a:gd name="connsiteY4" fmla="*/ 1330108 h 1458960"/>
              <a:gd name="connsiteX5" fmla="*/ 3872479 w 4126089"/>
              <a:gd name="connsiteY5" fmla="*/ 1453896 h 1458960"/>
              <a:gd name="connsiteX6" fmla="*/ 242321 w 4126089"/>
              <a:gd name="connsiteY6" fmla="*/ 1453896 h 1458960"/>
              <a:gd name="connsiteX7" fmla="*/ 0 w 4126089"/>
              <a:gd name="connsiteY7" fmla="*/ 1358330 h 1458960"/>
              <a:gd name="connsiteX8" fmla="*/ 0 w 4126089"/>
              <a:gd name="connsiteY8" fmla="*/ 242321 h 145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6089" h="1458960">
                <a:moveTo>
                  <a:pt x="0" y="242321"/>
                </a:moveTo>
                <a:cubicBezTo>
                  <a:pt x="0" y="108491"/>
                  <a:pt x="108491" y="0"/>
                  <a:pt x="242321" y="0"/>
                </a:cubicBezTo>
                <a:lnTo>
                  <a:pt x="3872479" y="0"/>
                </a:lnTo>
                <a:cubicBezTo>
                  <a:pt x="4006309" y="0"/>
                  <a:pt x="4114800" y="108491"/>
                  <a:pt x="4114800" y="242321"/>
                </a:cubicBezTo>
                <a:cubicBezTo>
                  <a:pt x="4114800" y="565406"/>
                  <a:pt x="4126089" y="1007023"/>
                  <a:pt x="4126089" y="1330108"/>
                </a:cubicBezTo>
                <a:cubicBezTo>
                  <a:pt x="4126089" y="1463938"/>
                  <a:pt x="4006309" y="1453896"/>
                  <a:pt x="3872479" y="1453896"/>
                </a:cubicBezTo>
                <a:lnTo>
                  <a:pt x="242321" y="1453896"/>
                </a:lnTo>
                <a:cubicBezTo>
                  <a:pt x="108491" y="1453896"/>
                  <a:pt x="0" y="1492160"/>
                  <a:pt x="0" y="1358330"/>
                </a:cubicBezTo>
                <a:lnTo>
                  <a:pt x="0" y="242321"/>
                </a:lnTo>
                <a:close/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5" name="Rounded Rectangle 160">
            <a:extLst>
              <a:ext uri="{FF2B5EF4-FFF2-40B4-BE49-F238E27FC236}">
                <a16:creationId xmlns:a16="http://schemas.microsoft.com/office/drawing/2014/main" id="{CAA7CB0B-8B92-628B-2C04-F274BD443D40}"/>
              </a:ext>
            </a:extLst>
          </p:cNvPr>
          <p:cNvSpPr/>
          <p:nvPr/>
        </p:nvSpPr>
        <p:spPr>
          <a:xfrm>
            <a:off x="10240190" y="9293479"/>
            <a:ext cx="6691310" cy="1458960"/>
          </a:xfrm>
          <a:custGeom>
            <a:avLst/>
            <a:gdLst>
              <a:gd name="connsiteX0" fmla="*/ 0 w 4114800"/>
              <a:gd name="connsiteY0" fmla="*/ 242321 h 1453896"/>
              <a:gd name="connsiteX1" fmla="*/ 242321 w 4114800"/>
              <a:gd name="connsiteY1" fmla="*/ 0 h 1453896"/>
              <a:gd name="connsiteX2" fmla="*/ 3872479 w 4114800"/>
              <a:gd name="connsiteY2" fmla="*/ 0 h 1453896"/>
              <a:gd name="connsiteX3" fmla="*/ 4114800 w 4114800"/>
              <a:gd name="connsiteY3" fmla="*/ 242321 h 1453896"/>
              <a:gd name="connsiteX4" fmla="*/ 4114800 w 4114800"/>
              <a:gd name="connsiteY4" fmla="*/ 1211575 h 1453896"/>
              <a:gd name="connsiteX5" fmla="*/ 3872479 w 4114800"/>
              <a:gd name="connsiteY5" fmla="*/ 1453896 h 1453896"/>
              <a:gd name="connsiteX6" fmla="*/ 242321 w 4114800"/>
              <a:gd name="connsiteY6" fmla="*/ 1453896 h 1453896"/>
              <a:gd name="connsiteX7" fmla="*/ 0 w 4114800"/>
              <a:gd name="connsiteY7" fmla="*/ 1211575 h 1453896"/>
              <a:gd name="connsiteX8" fmla="*/ 0 w 4114800"/>
              <a:gd name="connsiteY8" fmla="*/ 242321 h 1453896"/>
              <a:gd name="connsiteX0" fmla="*/ 0 w 4126089"/>
              <a:gd name="connsiteY0" fmla="*/ 242321 h 1454066"/>
              <a:gd name="connsiteX1" fmla="*/ 242321 w 4126089"/>
              <a:gd name="connsiteY1" fmla="*/ 0 h 1454066"/>
              <a:gd name="connsiteX2" fmla="*/ 3872479 w 4126089"/>
              <a:gd name="connsiteY2" fmla="*/ 0 h 1454066"/>
              <a:gd name="connsiteX3" fmla="*/ 4114800 w 4126089"/>
              <a:gd name="connsiteY3" fmla="*/ 242321 h 1454066"/>
              <a:gd name="connsiteX4" fmla="*/ 4126089 w 4126089"/>
              <a:gd name="connsiteY4" fmla="*/ 1330108 h 1454066"/>
              <a:gd name="connsiteX5" fmla="*/ 3872479 w 4126089"/>
              <a:gd name="connsiteY5" fmla="*/ 1453896 h 1454066"/>
              <a:gd name="connsiteX6" fmla="*/ 242321 w 4126089"/>
              <a:gd name="connsiteY6" fmla="*/ 1453896 h 1454066"/>
              <a:gd name="connsiteX7" fmla="*/ 0 w 4126089"/>
              <a:gd name="connsiteY7" fmla="*/ 1211575 h 1454066"/>
              <a:gd name="connsiteX8" fmla="*/ 0 w 4126089"/>
              <a:gd name="connsiteY8" fmla="*/ 242321 h 1454066"/>
              <a:gd name="connsiteX0" fmla="*/ 0 w 4126089"/>
              <a:gd name="connsiteY0" fmla="*/ 242321 h 1458960"/>
              <a:gd name="connsiteX1" fmla="*/ 242321 w 4126089"/>
              <a:gd name="connsiteY1" fmla="*/ 0 h 1458960"/>
              <a:gd name="connsiteX2" fmla="*/ 3872479 w 4126089"/>
              <a:gd name="connsiteY2" fmla="*/ 0 h 1458960"/>
              <a:gd name="connsiteX3" fmla="*/ 4114800 w 4126089"/>
              <a:gd name="connsiteY3" fmla="*/ 242321 h 1458960"/>
              <a:gd name="connsiteX4" fmla="*/ 4126089 w 4126089"/>
              <a:gd name="connsiteY4" fmla="*/ 1330108 h 1458960"/>
              <a:gd name="connsiteX5" fmla="*/ 3872479 w 4126089"/>
              <a:gd name="connsiteY5" fmla="*/ 1453896 h 1458960"/>
              <a:gd name="connsiteX6" fmla="*/ 242321 w 4126089"/>
              <a:gd name="connsiteY6" fmla="*/ 1453896 h 1458960"/>
              <a:gd name="connsiteX7" fmla="*/ 0 w 4126089"/>
              <a:gd name="connsiteY7" fmla="*/ 1358330 h 1458960"/>
              <a:gd name="connsiteX8" fmla="*/ 0 w 4126089"/>
              <a:gd name="connsiteY8" fmla="*/ 242321 h 145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6089" h="1458960">
                <a:moveTo>
                  <a:pt x="0" y="242321"/>
                </a:moveTo>
                <a:cubicBezTo>
                  <a:pt x="0" y="108491"/>
                  <a:pt x="108491" y="0"/>
                  <a:pt x="242321" y="0"/>
                </a:cubicBezTo>
                <a:lnTo>
                  <a:pt x="3872479" y="0"/>
                </a:lnTo>
                <a:cubicBezTo>
                  <a:pt x="4006309" y="0"/>
                  <a:pt x="4114800" y="108491"/>
                  <a:pt x="4114800" y="242321"/>
                </a:cubicBezTo>
                <a:cubicBezTo>
                  <a:pt x="4114800" y="565406"/>
                  <a:pt x="4126089" y="1007023"/>
                  <a:pt x="4126089" y="1330108"/>
                </a:cubicBezTo>
                <a:cubicBezTo>
                  <a:pt x="4126089" y="1463938"/>
                  <a:pt x="4006309" y="1453896"/>
                  <a:pt x="3872479" y="1453896"/>
                </a:cubicBezTo>
                <a:lnTo>
                  <a:pt x="242321" y="1453896"/>
                </a:lnTo>
                <a:cubicBezTo>
                  <a:pt x="108491" y="1453896"/>
                  <a:pt x="0" y="1492160"/>
                  <a:pt x="0" y="1358330"/>
                </a:cubicBezTo>
                <a:lnTo>
                  <a:pt x="0" y="242321"/>
                </a:lnTo>
                <a:close/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" name="Rounded Rectangle 160">
            <a:extLst>
              <a:ext uri="{FF2B5EF4-FFF2-40B4-BE49-F238E27FC236}">
                <a16:creationId xmlns:a16="http://schemas.microsoft.com/office/drawing/2014/main" id="{834854B3-36A5-B5EC-6AF3-CB40E17C13C9}"/>
              </a:ext>
            </a:extLst>
          </p:cNvPr>
          <p:cNvSpPr/>
          <p:nvPr/>
        </p:nvSpPr>
        <p:spPr>
          <a:xfrm>
            <a:off x="728803" y="9264523"/>
            <a:ext cx="6691310" cy="1458960"/>
          </a:xfrm>
          <a:custGeom>
            <a:avLst/>
            <a:gdLst>
              <a:gd name="connsiteX0" fmla="*/ 0 w 4114800"/>
              <a:gd name="connsiteY0" fmla="*/ 242321 h 1453896"/>
              <a:gd name="connsiteX1" fmla="*/ 242321 w 4114800"/>
              <a:gd name="connsiteY1" fmla="*/ 0 h 1453896"/>
              <a:gd name="connsiteX2" fmla="*/ 3872479 w 4114800"/>
              <a:gd name="connsiteY2" fmla="*/ 0 h 1453896"/>
              <a:gd name="connsiteX3" fmla="*/ 4114800 w 4114800"/>
              <a:gd name="connsiteY3" fmla="*/ 242321 h 1453896"/>
              <a:gd name="connsiteX4" fmla="*/ 4114800 w 4114800"/>
              <a:gd name="connsiteY4" fmla="*/ 1211575 h 1453896"/>
              <a:gd name="connsiteX5" fmla="*/ 3872479 w 4114800"/>
              <a:gd name="connsiteY5" fmla="*/ 1453896 h 1453896"/>
              <a:gd name="connsiteX6" fmla="*/ 242321 w 4114800"/>
              <a:gd name="connsiteY6" fmla="*/ 1453896 h 1453896"/>
              <a:gd name="connsiteX7" fmla="*/ 0 w 4114800"/>
              <a:gd name="connsiteY7" fmla="*/ 1211575 h 1453896"/>
              <a:gd name="connsiteX8" fmla="*/ 0 w 4114800"/>
              <a:gd name="connsiteY8" fmla="*/ 242321 h 1453896"/>
              <a:gd name="connsiteX0" fmla="*/ 0 w 4126089"/>
              <a:gd name="connsiteY0" fmla="*/ 242321 h 1454066"/>
              <a:gd name="connsiteX1" fmla="*/ 242321 w 4126089"/>
              <a:gd name="connsiteY1" fmla="*/ 0 h 1454066"/>
              <a:gd name="connsiteX2" fmla="*/ 3872479 w 4126089"/>
              <a:gd name="connsiteY2" fmla="*/ 0 h 1454066"/>
              <a:gd name="connsiteX3" fmla="*/ 4114800 w 4126089"/>
              <a:gd name="connsiteY3" fmla="*/ 242321 h 1454066"/>
              <a:gd name="connsiteX4" fmla="*/ 4126089 w 4126089"/>
              <a:gd name="connsiteY4" fmla="*/ 1330108 h 1454066"/>
              <a:gd name="connsiteX5" fmla="*/ 3872479 w 4126089"/>
              <a:gd name="connsiteY5" fmla="*/ 1453896 h 1454066"/>
              <a:gd name="connsiteX6" fmla="*/ 242321 w 4126089"/>
              <a:gd name="connsiteY6" fmla="*/ 1453896 h 1454066"/>
              <a:gd name="connsiteX7" fmla="*/ 0 w 4126089"/>
              <a:gd name="connsiteY7" fmla="*/ 1211575 h 1454066"/>
              <a:gd name="connsiteX8" fmla="*/ 0 w 4126089"/>
              <a:gd name="connsiteY8" fmla="*/ 242321 h 1454066"/>
              <a:gd name="connsiteX0" fmla="*/ 0 w 4126089"/>
              <a:gd name="connsiteY0" fmla="*/ 242321 h 1458960"/>
              <a:gd name="connsiteX1" fmla="*/ 242321 w 4126089"/>
              <a:gd name="connsiteY1" fmla="*/ 0 h 1458960"/>
              <a:gd name="connsiteX2" fmla="*/ 3872479 w 4126089"/>
              <a:gd name="connsiteY2" fmla="*/ 0 h 1458960"/>
              <a:gd name="connsiteX3" fmla="*/ 4114800 w 4126089"/>
              <a:gd name="connsiteY3" fmla="*/ 242321 h 1458960"/>
              <a:gd name="connsiteX4" fmla="*/ 4126089 w 4126089"/>
              <a:gd name="connsiteY4" fmla="*/ 1330108 h 1458960"/>
              <a:gd name="connsiteX5" fmla="*/ 3872479 w 4126089"/>
              <a:gd name="connsiteY5" fmla="*/ 1453896 h 1458960"/>
              <a:gd name="connsiteX6" fmla="*/ 242321 w 4126089"/>
              <a:gd name="connsiteY6" fmla="*/ 1453896 h 1458960"/>
              <a:gd name="connsiteX7" fmla="*/ 0 w 4126089"/>
              <a:gd name="connsiteY7" fmla="*/ 1358330 h 1458960"/>
              <a:gd name="connsiteX8" fmla="*/ 0 w 4126089"/>
              <a:gd name="connsiteY8" fmla="*/ 242321 h 145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6089" h="1458960">
                <a:moveTo>
                  <a:pt x="0" y="242321"/>
                </a:moveTo>
                <a:cubicBezTo>
                  <a:pt x="0" y="108491"/>
                  <a:pt x="108491" y="0"/>
                  <a:pt x="242321" y="0"/>
                </a:cubicBezTo>
                <a:lnTo>
                  <a:pt x="3872479" y="0"/>
                </a:lnTo>
                <a:cubicBezTo>
                  <a:pt x="4006309" y="0"/>
                  <a:pt x="4114800" y="108491"/>
                  <a:pt x="4114800" y="242321"/>
                </a:cubicBezTo>
                <a:cubicBezTo>
                  <a:pt x="4114800" y="565406"/>
                  <a:pt x="4126089" y="1007023"/>
                  <a:pt x="4126089" y="1330108"/>
                </a:cubicBezTo>
                <a:cubicBezTo>
                  <a:pt x="4126089" y="1463938"/>
                  <a:pt x="4006309" y="1453896"/>
                  <a:pt x="3872479" y="1453896"/>
                </a:cubicBezTo>
                <a:lnTo>
                  <a:pt x="242321" y="1453896"/>
                </a:lnTo>
                <a:cubicBezTo>
                  <a:pt x="108491" y="1453896"/>
                  <a:pt x="0" y="1492160"/>
                  <a:pt x="0" y="1358330"/>
                </a:cubicBezTo>
                <a:lnTo>
                  <a:pt x="0" y="242321"/>
                </a:lnTo>
                <a:close/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7D860F7-F003-EEE1-D5A5-DEDF5E5F5974}"/>
              </a:ext>
            </a:extLst>
          </p:cNvPr>
          <p:cNvCxnSpPr>
            <a:cxnSpLocks/>
          </p:cNvCxnSpPr>
          <p:nvPr/>
        </p:nvCxnSpPr>
        <p:spPr bwMode="auto">
          <a:xfrm>
            <a:off x="13809640" y="6592587"/>
            <a:ext cx="0" cy="54864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3EAB604D-4DE2-6C3B-1919-4E6E025BBD3D}"/>
              </a:ext>
            </a:extLst>
          </p:cNvPr>
          <p:cNvSpPr txBox="1"/>
          <p:nvPr/>
        </p:nvSpPr>
        <p:spPr>
          <a:xfrm>
            <a:off x="21871370" y="14407821"/>
            <a:ext cx="1942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% Difference</a:t>
            </a:r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A45175FB-A707-A74D-81A3-F45AD43428DD}"/>
              </a:ext>
            </a:extLst>
          </p:cNvPr>
          <p:cNvCxnSpPr>
            <a:cxnSpLocks/>
          </p:cNvCxnSpPr>
          <p:nvPr/>
        </p:nvCxnSpPr>
        <p:spPr bwMode="auto">
          <a:xfrm>
            <a:off x="4321392" y="6469512"/>
            <a:ext cx="17830800" cy="0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5B02BF9E-1838-9D4A-9F33-A88134298F2A}"/>
              </a:ext>
            </a:extLst>
          </p:cNvPr>
          <p:cNvCxnSpPr>
            <a:cxnSpLocks/>
          </p:cNvCxnSpPr>
          <p:nvPr/>
        </p:nvCxnSpPr>
        <p:spPr bwMode="auto">
          <a:xfrm flipV="1">
            <a:off x="3446697" y="2123391"/>
            <a:ext cx="13758128" cy="3074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E2299E8F-B534-8943-80E3-FA8A4BF62AC0}"/>
              </a:ext>
            </a:extLst>
          </p:cNvPr>
          <p:cNvSpPr/>
          <p:nvPr/>
        </p:nvSpPr>
        <p:spPr bwMode="auto">
          <a:xfrm>
            <a:off x="10540823" y="838200"/>
            <a:ext cx="6691310" cy="548640"/>
          </a:xfrm>
          <a:prstGeom prst="roundRect">
            <a:avLst/>
          </a:prstGeom>
          <a:solidFill>
            <a:srgbClr val="000066"/>
          </a:solidFill>
          <a:ln w="25400" cap="flat" cmpd="sng" algn="ctr">
            <a:solidFill>
              <a:srgbClr val="2D2D8A"/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3200" b="1" kern="0" dirty="0">
                <a:solidFill>
                  <a:srgbClr val="F0A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Compilation</a:t>
            </a:r>
          </a:p>
        </p:txBody>
      </p:sp>
      <p:sp>
        <p:nvSpPr>
          <p:cNvPr id="171" name="Rounded Rectangle 170">
            <a:extLst>
              <a:ext uri="{FF2B5EF4-FFF2-40B4-BE49-F238E27FC236}">
                <a16:creationId xmlns:a16="http://schemas.microsoft.com/office/drawing/2014/main" id="{39656C0F-331A-4F49-83AB-30E61632E7CE}"/>
              </a:ext>
            </a:extLst>
          </p:cNvPr>
          <p:cNvSpPr/>
          <p:nvPr/>
        </p:nvSpPr>
        <p:spPr bwMode="auto">
          <a:xfrm>
            <a:off x="736772" y="9134403"/>
            <a:ext cx="6673003" cy="457200"/>
          </a:xfrm>
          <a:prstGeom prst="roundRect">
            <a:avLst/>
          </a:prstGeom>
          <a:solidFill>
            <a:srgbClr val="000066"/>
          </a:solidFill>
          <a:ln w="25400" cap="flat" cmpd="sng" algn="ctr">
            <a:solidFill>
              <a:srgbClr val="2D2D8A"/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600" b="1" kern="0" dirty="0">
                <a:solidFill>
                  <a:srgbClr val="F0A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Differences in BP3 </a:t>
            </a:r>
          </a:p>
        </p:txBody>
      </p:sp>
      <p:sp>
        <p:nvSpPr>
          <p:cNvPr id="172" name="Rounded Rectangle 171">
            <a:extLst>
              <a:ext uri="{FF2B5EF4-FFF2-40B4-BE49-F238E27FC236}">
                <a16:creationId xmlns:a16="http://schemas.microsoft.com/office/drawing/2014/main" id="{72F2419C-EB13-1243-AFD6-BEB572E2EBDF}"/>
              </a:ext>
            </a:extLst>
          </p:cNvPr>
          <p:cNvSpPr/>
          <p:nvPr/>
        </p:nvSpPr>
        <p:spPr bwMode="auto">
          <a:xfrm>
            <a:off x="10250300" y="9138892"/>
            <a:ext cx="6658174" cy="457200"/>
          </a:xfrm>
          <a:prstGeom prst="roundRect">
            <a:avLst/>
          </a:prstGeom>
          <a:solidFill>
            <a:srgbClr val="000066"/>
          </a:solidFill>
          <a:ln w="25400" cap="flat" cmpd="sng" algn="ctr">
            <a:solidFill>
              <a:srgbClr val="2D2D8A"/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600" b="1" kern="0" dirty="0">
                <a:solidFill>
                  <a:srgbClr val="F0A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Adjustment for Sunscreen</a:t>
            </a:r>
          </a:p>
        </p:txBody>
      </p:sp>
      <p:sp>
        <p:nvSpPr>
          <p:cNvPr id="176" name="TextBox 18">
            <a:extLst>
              <a:ext uri="{FF2B5EF4-FFF2-40B4-BE49-F238E27FC236}">
                <a16:creationId xmlns:a16="http://schemas.microsoft.com/office/drawing/2014/main" id="{AA1221AA-9964-2D4D-A639-E7C333B88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889" y="9561829"/>
            <a:ext cx="682015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6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6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5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Characterize the differences in biomarker levels of BP3 by race and body dissatisfaction.</a:t>
            </a:r>
          </a:p>
        </p:txBody>
      </p: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DE679458-F70B-6B4F-AB9A-101B0E0EE32D}"/>
              </a:ext>
            </a:extLst>
          </p:cNvPr>
          <p:cNvCxnSpPr/>
          <p:nvPr/>
        </p:nvCxnSpPr>
        <p:spPr bwMode="auto">
          <a:xfrm>
            <a:off x="13897642" y="1394107"/>
            <a:ext cx="1588" cy="45720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AA15CAE6-9550-7B42-B6A1-0060E2B5495E}"/>
              </a:ext>
            </a:extLst>
          </p:cNvPr>
          <p:cNvCxnSpPr>
            <a:cxnSpLocks/>
          </p:cNvCxnSpPr>
          <p:nvPr/>
        </p:nvCxnSpPr>
        <p:spPr bwMode="auto">
          <a:xfrm>
            <a:off x="13803067" y="5391807"/>
            <a:ext cx="1" cy="82296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181" name="Straight Connector 63">
            <a:extLst>
              <a:ext uri="{FF2B5EF4-FFF2-40B4-BE49-F238E27FC236}">
                <a16:creationId xmlns:a16="http://schemas.microsoft.com/office/drawing/2014/main" id="{2F7C401D-6F91-334C-AA54-FE5CD7071DB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539891" y="5767054"/>
            <a:ext cx="777875" cy="77946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sp>
        <p:nvSpPr>
          <p:cNvPr id="190" name="TextBox 51">
            <a:extLst>
              <a:ext uri="{FF2B5EF4-FFF2-40B4-BE49-F238E27FC236}">
                <a16:creationId xmlns:a16="http://schemas.microsoft.com/office/drawing/2014/main" id="{C4C5963F-4ECD-304D-9E1C-B7F008482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7764" y="908651"/>
            <a:ext cx="40282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1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0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N = 135,310 participants</a:t>
            </a:r>
          </a:p>
        </p:txBody>
      </p:sp>
      <p:sp>
        <p:nvSpPr>
          <p:cNvPr id="191" name="TextBox 51">
            <a:extLst>
              <a:ext uri="{FF2B5EF4-FFF2-40B4-BE49-F238E27FC236}">
                <a16:creationId xmlns:a16="http://schemas.microsoft.com/office/drawing/2014/main" id="{21A5FC32-774B-0242-AFE9-538452DE1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63236" y="5507662"/>
            <a:ext cx="41524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1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0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N = 3,072 participants</a:t>
            </a:r>
          </a:p>
        </p:txBody>
      </p:sp>
      <p:sp>
        <p:nvSpPr>
          <p:cNvPr id="199" name="Rounded Rectangle 198">
            <a:extLst>
              <a:ext uri="{FF2B5EF4-FFF2-40B4-BE49-F238E27FC236}">
                <a16:creationId xmlns:a16="http://schemas.microsoft.com/office/drawing/2014/main" id="{BD729599-B342-614C-BF82-5B9D1729FE06}"/>
              </a:ext>
            </a:extLst>
          </p:cNvPr>
          <p:cNvSpPr/>
          <p:nvPr/>
        </p:nvSpPr>
        <p:spPr bwMode="auto">
          <a:xfrm>
            <a:off x="10540823" y="1793098"/>
            <a:ext cx="6691310" cy="548640"/>
          </a:xfrm>
          <a:prstGeom prst="roundRect">
            <a:avLst/>
          </a:prstGeom>
          <a:solidFill>
            <a:srgbClr val="000066"/>
          </a:solidFill>
          <a:ln w="25400" cap="flat" cmpd="sng" algn="ctr">
            <a:solidFill>
              <a:srgbClr val="2D2D8A"/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3200" b="1" kern="0" dirty="0">
                <a:solidFill>
                  <a:srgbClr val="F0A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Cleaning</a:t>
            </a:r>
          </a:p>
        </p:txBody>
      </p:sp>
      <p:sp>
        <p:nvSpPr>
          <p:cNvPr id="201" name="Rounded Rectangle 200">
            <a:extLst>
              <a:ext uri="{FF2B5EF4-FFF2-40B4-BE49-F238E27FC236}">
                <a16:creationId xmlns:a16="http://schemas.microsoft.com/office/drawing/2014/main" id="{1892861D-7F5B-0841-A674-D079B756C100}"/>
              </a:ext>
            </a:extLst>
          </p:cNvPr>
          <p:cNvSpPr/>
          <p:nvPr/>
        </p:nvSpPr>
        <p:spPr bwMode="auto">
          <a:xfrm>
            <a:off x="10453816" y="6182760"/>
            <a:ext cx="6691310" cy="548640"/>
          </a:xfrm>
          <a:prstGeom prst="roundRect">
            <a:avLst/>
          </a:prstGeom>
          <a:solidFill>
            <a:srgbClr val="000066"/>
          </a:solidFill>
          <a:ln w="25400" cap="flat" cmpd="sng" algn="ctr">
            <a:solidFill>
              <a:srgbClr val="2D2D8A"/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3200" b="1" kern="0" dirty="0">
                <a:solidFill>
                  <a:srgbClr val="F0A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Statistical Analyses</a:t>
            </a:r>
          </a:p>
        </p:txBody>
      </p: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34A3F110-946E-A446-935D-5E74E744304C}"/>
              </a:ext>
            </a:extLst>
          </p:cNvPr>
          <p:cNvCxnSpPr/>
          <p:nvPr/>
        </p:nvCxnSpPr>
        <p:spPr bwMode="auto">
          <a:xfrm>
            <a:off x="4343608" y="6469512"/>
            <a:ext cx="0" cy="64008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E0823AE5-62B2-8A45-BE81-7A5FA5D63E75}"/>
              </a:ext>
            </a:extLst>
          </p:cNvPr>
          <p:cNvCxnSpPr/>
          <p:nvPr/>
        </p:nvCxnSpPr>
        <p:spPr bwMode="auto">
          <a:xfrm>
            <a:off x="3475593" y="2117470"/>
            <a:ext cx="1588" cy="64008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B2A7BC88-5F82-E345-93FF-E02E4170C97B}"/>
              </a:ext>
            </a:extLst>
          </p:cNvPr>
          <p:cNvCxnSpPr/>
          <p:nvPr/>
        </p:nvCxnSpPr>
        <p:spPr bwMode="auto">
          <a:xfrm flipH="1">
            <a:off x="22895383" y="5046569"/>
            <a:ext cx="0" cy="365760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3E82F28A-7E4F-3E49-A1DB-16CFDC9B536E}"/>
              </a:ext>
            </a:extLst>
          </p:cNvPr>
          <p:cNvCxnSpPr>
            <a:cxnSpLocks/>
          </p:cNvCxnSpPr>
          <p:nvPr/>
        </p:nvCxnSpPr>
        <p:spPr bwMode="auto">
          <a:xfrm flipV="1">
            <a:off x="13786771" y="5414478"/>
            <a:ext cx="9144000" cy="0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235" name="Rounded Rectangle 234">
            <a:extLst>
              <a:ext uri="{FF2B5EF4-FFF2-40B4-BE49-F238E27FC236}">
                <a16:creationId xmlns:a16="http://schemas.microsoft.com/office/drawing/2014/main" id="{39762C2F-AB2A-494A-9CBB-954BF0906124}"/>
              </a:ext>
            </a:extLst>
          </p:cNvPr>
          <p:cNvSpPr/>
          <p:nvPr/>
        </p:nvSpPr>
        <p:spPr bwMode="auto">
          <a:xfrm>
            <a:off x="18640265" y="9158513"/>
            <a:ext cx="6673003" cy="457200"/>
          </a:xfrm>
          <a:prstGeom prst="roundRect">
            <a:avLst/>
          </a:prstGeom>
          <a:solidFill>
            <a:srgbClr val="000066"/>
          </a:solidFill>
          <a:ln w="25400" cap="flat" cmpd="sng" algn="ctr">
            <a:solidFill>
              <a:srgbClr val="2D2D8A"/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600" b="1" kern="0" dirty="0">
                <a:solidFill>
                  <a:srgbClr val="F0A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Variance of BP3 Explained</a:t>
            </a:r>
          </a:p>
        </p:txBody>
      </p:sp>
      <p:sp>
        <p:nvSpPr>
          <p:cNvPr id="236" name="TextBox 18">
            <a:extLst>
              <a:ext uri="{FF2B5EF4-FFF2-40B4-BE49-F238E27FC236}">
                <a16:creationId xmlns:a16="http://schemas.microsoft.com/office/drawing/2014/main" id="{B90C2580-E87A-6A49-B876-1759E95B2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0004" y="9598091"/>
            <a:ext cx="667300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6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6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5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Quantify the racial differences in the contribution of sunscreen usage in explaining BP3 levels.</a:t>
            </a:r>
          </a:p>
        </p:txBody>
      </p:sp>
      <p:sp>
        <p:nvSpPr>
          <p:cNvPr id="246" name="TextBox 18">
            <a:extLst>
              <a:ext uri="{FF2B5EF4-FFF2-40B4-BE49-F238E27FC236}">
                <a16:creationId xmlns:a16="http://schemas.microsoft.com/office/drawing/2014/main" id="{CE805869-58B4-B14E-9D76-A1284EE42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8649" y="9592002"/>
            <a:ext cx="667300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6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6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5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kern="0" dirty="0">
                <a:cs typeface="Arial" panose="020B0604020202020204" pitchFamily="34" charset="0"/>
              </a:rPr>
              <a:t>Evaluate how racial differences in BP3 change when accounting for sunscreen usage.</a:t>
            </a:r>
          </a:p>
        </p:txBody>
      </p: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80CA626B-88DF-F345-AEE7-A7EE2CEF1394}"/>
              </a:ext>
            </a:extLst>
          </p:cNvPr>
          <p:cNvCxnSpPr/>
          <p:nvPr/>
        </p:nvCxnSpPr>
        <p:spPr bwMode="auto">
          <a:xfrm>
            <a:off x="22114774" y="6484692"/>
            <a:ext cx="0" cy="64008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sp>
        <p:nvSpPr>
          <p:cNvPr id="5" name="TextBox 50">
            <a:extLst>
              <a:ext uri="{FF2B5EF4-FFF2-40B4-BE49-F238E27FC236}">
                <a16:creationId xmlns:a16="http://schemas.microsoft.com/office/drawing/2014/main" id="{F2E32222-83D1-2E25-6570-ACAA21C60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9957" y="3427027"/>
            <a:ext cx="250512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6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6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5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Exclude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male participants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N = 28,314</a:t>
            </a:r>
          </a:p>
        </p:txBody>
      </p:sp>
      <p:sp>
        <p:nvSpPr>
          <p:cNvPr id="7" name="TextBox 50">
            <a:extLst>
              <a:ext uri="{FF2B5EF4-FFF2-40B4-BE49-F238E27FC236}">
                <a16:creationId xmlns:a16="http://schemas.microsoft.com/office/drawing/2014/main" id="{B6C426E9-2CC8-498C-AD03-8EA0F3248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2371" y="3057772"/>
            <a:ext cx="199534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6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6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5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Exclude participants with no data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on PIR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N = 231</a:t>
            </a:r>
          </a:p>
        </p:txBody>
      </p:sp>
      <p:sp>
        <p:nvSpPr>
          <p:cNvPr id="8" name="TextBox 50">
            <a:extLst>
              <a:ext uri="{FF2B5EF4-FFF2-40B4-BE49-F238E27FC236}">
                <a16:creationId xmlns:a16="http://schemas.microsoft.com/office/drawing/2014/main" id="{D85978C3-32AC-3D78-684B-AF8F10940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69843" y="2611245"/>
            <a:ext cx="225108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6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6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5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Exclude participants with no data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 on urinary creatinine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N = 1</a:t>
            </a:r>
          </a:p>
        </p:txBody>
      </p:sp>
      <p:sp>
        <p:nvSpPr>
          <p:cNvPr id="10" name="TextBox 50">
            <a:extLst>
              <a:ext uri="{FF2B5EF4-FFF2-40B4-BE49-F238E27FC236}">
                <a16:creationId xmlns:a16="http://schemas.microsoft.com/office/drawing/2014/main" id="{B500E06C-B9DB-9A14-4353-DAB9189AC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0748" y="2765389"/>
            <a:ext cx="2358548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6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6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5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Exclude participants with no data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on body dissatisfaction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N = 71,947</a:t>
            </a:r>
          </a:p>
        </p:txBody>
      </p:sp>
      <p:sp>
        <p:nvSpPr>
          <p:cNvPr id="11" name="TextBox 50">
            <a:extLst>
              <a:ext uri="{FF2B5EF4-FFF2-40B4-BE49-F238E27FC236}">
                <a16:creationId xmlns:a16="http://schemas.microsoft.com/office/drawing/2014/main" id="{30A8D9F5-7CCA-DBB4-677D-3A480FE86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93407" y="3035020"/>
            <a:ext cx="2069736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6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6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5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Exclude participants with no data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on BMI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N = 26</a:t>
            </a:r>
          </a:p>
        </p:txBody>
      </p:sp>
      <p:sp>
        <p:nvSpPr>
          <p:cNvPr id="12" name="TextBox 50">
            <a:extLst>
              <a:ext uri="{FF2B5EF4-FFF2-40B4-BE49-F238E27FC236}">
                <a16:creationId xmlns:a16="http://schemas.microsoft.com/office/drawing/2014/main" id="{F0BE0126-368F-7EBC-F52E-0DF287836F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80591" y="2684085"/>
            <a:ext cx="2488277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6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6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5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Exclude participants with no data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 on sunscreen usage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N = 3,299</a:t>
            </a:r>
          </a:p>
        </p:txBody>
      </p:sp>
      <p:sp>
        <p:nvSpPr>
          <p:cNvPr id="13" name="TextBox 50">
            <a:extLst>
              <a:ext uri="{FF2B5EF4-FFF2-40B4-BE49-F238E27FC236}">
                <a16:creationId xmlns:a16="http://schemas.microsoft.com/office/drawing/2014/main" id="{BD77ABD2-2BA7-80C2-F3E4-6657E6F2E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9280" y="3057772"/>
            <a:ext cx="2337431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6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6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5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Exclude participants with no data on BP3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N = 24,507</a:t>
            </a:r>
          </a:p>
        </p:txBody>
      </p:sp>
      <p:sp>
        <p:nvSpPr>
          <p:cNvPr id="9" name="TextBox 50">
            <a:extLst>
              <a:ext uri="{FF2B5EF4-FFF2-40B4-BE49-F238E27FC236}">
                <a16:creationId xmlns:a16="http://schemas.microsoft.com/office/drawing/2014/main" id="{6443706C-2F81-4286-22DC-4118038892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7399" y="3057772"/>
            <a:ext cx="3059042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6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6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5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Exclude participants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who feel underweight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N = 3,913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6742601-C28B-8DC5-0175-6F5741B0858D}"/>
              </a:ext>
            </a:extLst>
          </p:cNvPr>
          <p:cNvCxnSpPr>
            <a:cxnSpLocks/>
          </p:cNvCxnSpPr>
          <p:nvPr/>
        </p:nvCxnSpPr>
        <p:spPr bwMode="auto">
          <a:xfrm>
            <a:off x="4580789" y="3747226"/>
            <a:ext cx="636491" cy="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3E914DC-F3D0-5DE6-B23F-C350DF1C2388}"/>
              </a:ext>
            </a:extLst>
          </p:cNvPr>
          <p:cNvCxnSpPr>
            <a:cxnSpLocks/>
          </p:cNvCxnSpPr>
          <p:nvPr/>
        </p:nvCxnSpPr>
        <p:spPr bwMode="auto">
          <a:xfrm>
            <a:off x="7431278" y="3747226"/>
            <a:ext cx="636491" cy="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F5F3EF3-ABAB-1703-4303-57C7B2B99062}"/>
              </a:ext>
            </a:extLst>
          </p:cNvPr>
          <p:cNvCxnSpPr>
            <a:cxnSpLocks/>
          </p:cNvCxnSpPr>
          <p:nvPr/>
        </p:nvCxnSpPr>
        <p:spPr bwMode="auto">
          <a:xfrm>
            <a:off x="9652719" y="3747226"/>
            <a:ext cx="636491" cy="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D6AFD42-0187-3531-2E84-D495E024E647}"/>
              </a:ext>
            </a:extLst>
          </p:cNvPr>
          <p:cNvCxnSpPr>
            <a:cxnSpLocks/>
          </p:cNvCxnSpPr>
          <p:nvPr/>
        </p:nvCxnSpPr>
        <p:spPr bwMode="auto">
          <a:xfrm>
            <a:off x="12555488" y="3747226"/>
            <a:ext cx="636491" cy="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EBB3224-B18A-0808-3D73-42C98588F646}"/>
              </a:ext>
            </a:extLst>
          </p:cNvPr>
          <p:cNvCxnSpPr>
            <a:cxnSpLocks/>
          </p:cNvCxnSpPr>
          <p:nvPr/>
        </p:nvCxnSpPr>
        <p:spPr bwMode="auto">
          <a:xfrm>
            <a:off x="15684461" y="3747226"/>
            <a:ext cx="636491" cy="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16115FC-F776-723F-440E-5D18534E7F91}"/>
              </a:ext>
            </a:extLst>
          </p:cNvPr>
          <p:cNvCxnSpPr>
            <a:cxnSpLocks/>
          </p:cNvCxnSpPr>
          <p:nvPr/>
        </p:nvCxnSpPr>
        <p:spPr bwMode="auto">
          <a:xfrm>
            <a:off x="18353550" y="3724474"/>
            <a:ext cx="636491" cy="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3132188-C4AA-B91D-8E74-80CAD00FD87E}"/>
              </a:ext>
            </a:extLst>
          </p:cNvPr>
          <p:cNvCxnSpPr>
            <a:cxnSpLocks/>
          </p:cNvCxnSpPr>
          <p:nvPr/>
        </p:nvCxnSpPr>
        <p:spPr bwMode="auto">
          <a:xfrm>
            <a:off x="21203409" y="3747226"/>
            <a:ext cx="636491" cy="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3BFB0BB-54E3-C09E-1A41-97E843CCECF9}"/>
              </a:ext>
            </a:extLst>
          </p:cNvPr>
          <p:cNvSpPr txBox="1"/>
          <p:nvPr/>
        </p:nvSpPr>
        <p:spPr>
          <a:xfrm>
            <a:off x="4391372" y="14613156"/>
            <a:ext cx="16126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Percent Difference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 BP3</a:t>
            </a:r>
          </a:p>
        </p:txBody>
      </p:sp>
      <p:sp>
        <p:nvSpPr>
          <p:cNvPr id="20" name="Up Arrow 19">
            <a:extLst>
              <a:ext uri="{FF2B5EF4-FFF2-40B4-BE49-F238E27FC236}">
                <a16:creationId xmlns:a16="http://schemas.microsoft.com/office/drawing/2014/main" id="{FDA2AE86-D097-814B-7716-78B32168BE2A}"/>
              </a:ext>
            </a:extLst>
          </p:cNvPr>
          <p:cNvSpPr/>
          <p:nvPr/>
        </p:nvSpPr>
        <p:spPr>
          <a:xfrm flipH="1">
            <a:off x="6119743" y="14606531"/>
            <a:ext cx="199099" cy="436374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9AC5608-ADAF-CC49-8267-C9380B6F2F47}"/>
              </a:ext>
            </a:extLst>
          </p:cNvPr>
          <p:cNvSpPr/>
          <p:nvPr/>
        </p:nvSpPr>
        <p:spPr>
          <a:xfrm>
            <a:off x="6132059" y="15053073"/>
            <a:ext cx="199098" cy="18330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Up Arrow 23">
            <a:extLst>
              <a:ext uri="{FF2B5EF4-FFF2-40B4-BE49-F238E27FC236}">
                <a16:creationId xmlns:a16="http://schemas.microsoft.com/office/drawing/2014/main" id="{DFC52B39-62CF-0922-986E-843302A3E455}"/>
              </a:ext>
            </a:extLst>
          </p:cNvPr>
          <p:cNvSpPr/>
          <p:nvPr/>
        </p:nvSpPr>
        <p:spPr>
          <a:xfrm rot="10800000" flipH="1">
            <a:off x="6125547" y="15250711"/>
            <a:ext cx="199099" cy="436374"/>
          </a:xfrm>
          <a:prstGeom prst="up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1F6A849-D61C-3EFC-5AAF-9C9E00597D91}"/>
              </a:ext>
            </a:extLst>
          </p:cNvPr>
          <p:cNvCxnSpPr>
            <a:cxnSpLocks/>
          </p:cNvCxnSpPr>
          <p:nvPr/>
        </p:nvCxnSpPr>
        <p:spPr bwMode="auto">
          <a:xfrm>
            <a:off x="5956657" y="15969020"/>
            <a:ext cx="4663440" cy="0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F5E7257-840C-D51D-7E41-79AB7E0E9CC9}"/>
              </a:ext>
            </a:extLst>
          </p:cNvPr>
          <p:cNvCxnSpPr>
            <a:cxnSpLocks/>
          </p:cNvCxnSpPr>
          <p:nvPr/>
        </p:nvCxnSpPr>
        <p:spPr bwMode="auto">
          <a:xfrm flipV="1">
            <a:off x="5956652" y="14577371"/>
            <a:ext cx="0" cy="1423077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ACF21B8-F43B-6E44-F00E-F4D3FC40B133}"/>
              </a:ext>
            </a:extLst>
          </p:cNvPr>
          <p:cNvSpPr txBox="1"/>
          <p:nvPr/>
        </p:nvSpPr>
        <p:spPr>
          <a:xfrm>
            <a:off x="6323165" y="14390872"/>
            <a:ext cx="2124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en-US" sz="2400" b="1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race,k_body</a:t>
            </a:r>
            <a:r>
              <a:rPr lang="en-US" altLang="en-US" sz="2400" b="1" kern="0" baseline="-25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5EE563-0BEB-1BC0-3611-96117AD6282D}"/>
              </a:ext>
            </a:extLst>
          </p:cNvPr>
          <p:cNvSpPr txBox="1"/>
          <p:nvPr/>
        </p:nvSpPr>
        <p:spPr>
          <a:xfrm>
            <a:off x="6322871" y="15399128"/>
            <a:ext cx="1759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en-US" sz="2400" b="1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race,k_body</a:t>
            </a:r>
            <a:r>
              <a:rPr lang="en-US" altLang="en-US" sz="2400" b="1" kern="0" baseline="-25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C1DD9FD-62F2-B171-3002-73F05AD3301F}"/>
              </a:ext>
            </a:extLst>
          </p:cNvPr>
          <p:cNvSpPr txBox="1"/>
          <p:nvPr/>
        </p:nvSpPr>
        <p:spPr>
          <a:xfrm>
            <a:off x="6316924" y="14836404"/>
            <a:ext cx="1092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en-US" sz="2400" b="1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race,k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513CF93D-AADF-D17A-E1D2-1BE1FB7A1D24}"/>
              </a:ext>
            </a:extLst>
          </p:cNvPr>
          <p:cNvSpPr txBox="1"/>
          <p:nvPr/>
        </p:nvSpPr>
        <p:spPr>
          <a:xfrm>
            <a:off x="18615029" y="15285280"/>
            <a:ext cx="25378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Race/ethnicity = j</a:t>
            </a:r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27F9DEB1-2FD4-855F-431C-3AC7A2FFAF75}"/>
              </a:ext>
            </a:extLst>
          </p:cNvPr>
          <p:cNvCxnSpPr>
            <a:cxnSpLocks/>
          </p:cNvCxnSpPr>
          <p:nvPr/>
        </p:nvCxnSpPr>
        <p:spPr bwMode="auto">
          <a:xfrm>
            <a:off x="21164404" y="15919707"/>
            <a:ext cx="3320430" cy="0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3C8DDEEC-5BA4-613D-4021-C5A7293E961E}"/>
              </a:ext>
            </a:extLst>
          </p:cNvPr>
          <p:cNvCxnSpPr>
            <a:cxnSpLocks/>
          </p:cNvCxnSpPr>
          <p:nvPr/>
        </p:nvCxnSpPr>
        <p:spPr bwMode="auto">
          <a:xfrm flipV="1">
            <a:off x="21171866" y="14466100"/>
            <a:ext cx="0" cy="1423077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4A47769D-ED41-2344-E515-8D016D6FCE44}"/>
              </a:ext>
            </a:extLst>
          </p:cNvPr>
          <p:cNvSpPr txBox="1"/>
          <p:nvPr/>
        </p:nvSpPr>
        <p:spPr>
          <a:xfrm>
            <a:off x="20617323" y="16180496"/>
            <a:ext cx="4350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Coefficient of determination R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8EEDA7A7-F86D-0621-5D31-EB5DAFE11AFD}"/>
              </a:ext>
            </a:extLst>
          </p:cNvPr>
          <p:cNvCxnSpPr/>
          <p:nvPr/>
        </p:nvCxnSpPr>
        <p:spPr>
          <a:xfrm>
            <a:off x="21951378" y="14856262"/>
            <a:ext cx="1920240" cy="0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3624D2BF-BA01-9192-A719-F7EDAD5927A8}"/>
              </a:ext>
            </a:extLst>
          </p:cNvPr>
          <p:cNvSpPr txBox="1"/>
          <p:nvPr/>
        </p:nvSpPr>
        <p:spPr>
          <a:xfrm>
            <a:off x="21490742" y="14836404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7976A5B2-2361-318B-05E9-7C6D09AE83C5}"/>
              </a:ext>
            </a:extLst>
          </p:cNvPr>
          <p:cNvSpPr txBox="1"/>
          <p:nvPr/>
        </p:nvSpPr>
        <p:spPr>
          <a:xfrm>
            <a:off x="23746326" y="14852537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(5)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F13D6B4-ADC6-62FB-DE50-2138FFA46207}"/>
              </a:ext>
            </a:extLst>
          </p:cNvPr>
          <p:cNvCxnSpPr>
            <a:cxnSpLocks/>
          </p:cNvCxnSpPr>
          <p:nvPr/>
        </p:nvCxnSpPr>
        <p:spPr>
          <a:xfrm flipV="1">
            <a:off x="21964132" y="15074275"/>
            <a:ext cx="1828800" cy="2721"/>
          </a:xfrm>
          <a:prstGeom prst="line">
            <a:avLst/>
          </a:prstGeom>
          <a:ln w="31750">
            <a:solidFill>
              <a:srgbClr val="7030A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08A7F25-0BA2-58E8-5D2C-B618D7DEABFF}"/>
              </a:ext>
            </a:extLst>
          </p:cNvPr>
          <p:cNvSpPr txBox="1"/>
          <p:nvPr/>
        </p:nvSpPr>
        <p:spPr>
          <a:xfrm>
            <a:off x="21490742" y="14562372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1C9043-48F1-102B-2F09-E9A052C665C0}"/>
              </a:ext>
            </a:extLst>
          </p:cNvPr>
          <p:cNvSpPr txBox="1"/>
          <p:nvPr/>
        </p:nvSpPr>
        <p:spPr>
          <a:xfrm>
            <a:off x="23780616" y="14562372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(4)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527206-4C2F-C753-AC35-7047767DF790}"/>
              </a:ext>
            </a:extLst>
          </p:cNvPr>
          <p:cNvSpPr txBox="1"/>
          <p:nvPr/>
        </p:nvSpPr>
        <p:spPr>
          <a:xfrm>
            <a:off x="21490742" y="15352125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(7)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CFE809-EB9F-B0A7-27C2-4139EB21F37C}"/>
              </a:ext>
            </a:extLst>
          </p:cNvPr>
          <p:cNvSpPr txBox="1"/>
          <p:nvPr/>
        </p:nvSpPr>
        <p:spPr>
          <a:xfrm>
            <a:off x="23352295" y="15352124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(8)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45934F3-3532-DCF0-CA78-F9BE4F678CB9}"/>
              </a:ext>
            </a:extLst>
          </p:cNvPr>
          <p:cNvCxnSpPr>
            <a:cxnSpLocks/>
          </p:cNvCxnSpPr>
          <p:nvPr/>
        </p:nvCxnSpPr>
        <p:spPr>
          <a:xfrm>
            <a:off x="22033973" y="15601425"/>
            <a:ext cx="1336211" cy="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35071A0-916C-99FC-BFD6-C9CB0340549B}"/>
              </a:ext>
            </a:extLst>
          </p:cNvPr>
          <p:cNvSpPr txBox="1"/>
          <p:nvPr/>
        </p:nvSpPr>
        <p:spPr>
          <a:xfrm>
            <a:off x="19386006" y="14696156"/>
            <a:ext cx="1668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All Women</a:t>
            </a:r>
          </a:p>
        </p:txBody>
      </p:sp>
      <p:sp>
        <p:nvSpPr>
          <p:cNvPr id="140" name="Rounded Rectangle 139">
            <a:extLst>
              <a:ext uri="{FF2B5EF4-FFF2-40B4-BE49-F238E27FC236}">
                <a16:creationId xmlns:a16="http://schemas.microsoft.com/office/drawing/2014/main" id="{0E21B2CC-BC6F-509B-6337-DAFAC7227BD2}"/>
              </a:ext>
            </a:extLst>
          </p:cNvPr>
          <p:cNvSpPr/>
          <p:nvPr/>
        </p:nvSpPr>
        <p:spPr bwMode="auto">
          <a:xfrm>
            <a:off x="724037" y="7059752"/>
            <a:ext cx="6673003" cy="457200"/>
          </a:xfrm>
          <a:prstGeom prst="roundRect">
            <a:avLst/>
          </a:prstGeom>
          <a:solidFill>
            <a:srgbClr val="000066"/>
          </a:solidFill>
          <a:ln w="25400" cap="flat" cmpd="sng" algn="ctr">
            <a:solidFill>
              <a:srgbClr val="2D2D8A"/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600" b="1" kern="0" dirty="0">
                <a:solidFill>
                  <a:srgbClr val="F0A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Question 1</a:t>
            </a:r>
          </a:p>
        </p:txBody>
      </p:sp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F8FCDDD4-77E7-FE67-5D95-C5B70589DBCC}"/>
              </a:ext>
            </a:extLst>
          </p:cNvPr>
          <p:cNvSpPr/>
          <p:nvPr/>
        </p:nvSpPr>
        <p:spPr bwMode="auto">
          <a:xfrm>
            <a:off x="10231292" y="7064087"/>
            <a:ext cx="6661355" cy="457200"/>
          </a:xfrm>
          <a:prstGeom prst="roundRect">
            <a:avLst/>
          </a:prstGeom>
          <a:solidFill>
            <a:srgbClr val="000066"/>
          </a:solidFill>
          <a:ln w="25400" cap="flat" cmpd="sng" algn="ctr">
            <a:solidFill>
              <a:srgbClr val="2D2D8A"/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600" b="1" kern="0" dirty="0">
                <a:solidFill>
                  <a:srgbClr val="F0A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Question 2</a:t>
            </a:r>
          </a:p>
        </p:txBody>
      </p:sp>
      <p:sp>
        <p:nvSpPr>
          <p:cNvPr id="142" name="TextBox 18">
            <a:extLst>
              <a:ext uri="{FF2B5EF4-FFF2-40B4-BE49-F238E27FC236}">
                <a16:creationId xmlns:a16="http://schemas.microsoft.com/office/drawing/2014/main" id="{02E90B04-3EFD-1D9F-E445-472C96F5C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298" y="7588300"/>
            <a:ext cx="69816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6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6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5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How does body dissatisfaction impact the racial disparities in biomarker levels of BP3?</a:t>
            </a:r>
          </a:p>
        </p:txBody>
      </p:sp>
      <p:sp>
        <p:nvSpPr>
          <p:cNvPr id="143" name="Rounded Rectangle 142">
            <a:extLst>
              <a:ext uri="{FF2B5EF4-FFF2-40B4-BE49-F238E27FC236}">
                <a16:creationId xmlns:a16="http://schemas.microsoft.com/office/drawing/2014/main" id="{248A886A-27A7-4B76-361A-7D1CA9D7C4D4}"/>
              </a:ext>
            </a:extLst>
          </p:cNvPr>
          <p:cNvSpPr/>
          <p:nvPr/>
        </p:nvSpPr>
        <p:spPr bwMode="auto">
          <a:xfrm>
            <a:off x="18623514" y="7051219"/>
            <a:ext cx="6673003" cy="457200"/>
          </a:xfrm>
          <a:prstGeom prst="roundRect">
            <a:avLst/>
          </a:prstGeom>
          <a:solidFill>
            <a:srgbClr val="000066"/>
          </a:solidFill>
          <a:ln w="25400" cap="flat" cmpd="sng" algn="ctr">
            <a:solidFill>
              <a:srgbClr val="2D2D8A"/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600" b="1" kern="0" dirty="0">
                <a:solidFill>
                  <a:srgbClr val="F0A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Question 3</a:t>
            </a:r>
          </a:p>
        </p:txBody>
      </p:sp>
      <p:sp>
        <p:nvSpPr>
          <p:cNvPr id="150" name="TextBox 18">
            <a:extLst>
              <a:ext uri="{FF2B5EF4-FFF2-40B4-BE49-F238E27FC236}">
                <a16:creationId xmlns:a16="http://schemas.microsoft.com/office/drawing/2014/main" id="{3088D1D4-4E4C-A38A-1936-6C7332E44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43253" y="7607385"/>
            <a:ext cx="667300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6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6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5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What is the contribution of sunscreen usage in explaining biomarker levels of BP3?</a:t>
            </a:r>
          </a:p>
        </p:txBody>
      </p:sp>
      <p:sp>
        <p:nvSpPr>
          <p:cNvPr id="156" name="TextBox 18">
            <a:extLst>
              <a:ext uri="{FF2B5EF4-FFF2-40B4-BE49-F238E27FC236}">
                <a16:creationId xmlns:a16="http://schemas.microsoft.com/office/drawing/2014/main" id="{80151DC0-B8E3-1AA5-7A4F-6145AF876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30050" y="7480505"/>
            <a:ext cx="667300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6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6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5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kern="0" dirty="0">
                <a:cs typeface="Arial" panose="020B0604020202020204" pitchFamily="34" charset="0"/>
              </a:rPr>
              <a:t>How does sunscreen usage affect the differences in BP3 levels by race/ethnicity and body dissatisfaction?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6FC31AF6-E771-7F16-E97D-A7D1254C3B12}"/>
              </a:ext>
            </a:extLst>
          </p:cNvPr>
          <p:cNvCxnSpPr>
            <a:cxnSpLocks/>
          </p:cNvCxnSpPr>
          <p:nvPr/>
        </p:nvCxnSpPr>
        <p:spPr bwMode="auto">
          <a:xfrm>
            <a:off x="13742798" y="8735530"/>
            <a:ext cx="0" cy="45720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AE658AEC-8BA4-C3CE-2251-DBDCEF64C8C0}"/>
              </a:ext>
            </a:extLst>
          </p:cNvPr>
          <p:cNvCxnSpPr/>
          <p:nvPr/>
        </p:nvCxnSpPr>
        <p:spPr bwMode="auto">
          <a:xfrm>
            <a:off x="22104089" y="8709842"/>
            <a:ext cx="0" cy="45720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9F959D40-09FE-56A4-9DC0-BA06214A9D0F}"/>
              </a:ext>
            </a:extLst>
          </p:cNvPr>
          <p:cNvCxnSpPr/>
          <p:nvPr/>
        </p:nvCxnSpPr>
        <p:spPr bwMode="auto">
          <a:xfrm>
            <a:off x="4334559" y="8677019"/>
            <a:ext cx="0" cy="45720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sp>
        <p:nvSpPr>
          <p:cNvPr id="208" name="Up Arrow 207">
            <a:extLst>
              <a:ext uri="{FF2B5EF4-FFF2-40B4-BE49-F238E27FC236}">
                <a16:creationId xmlns:a16="http://schemas.microsoft.com/office/drawing/2014/main" id="{C133BC1A-7F96-4F8E-68CC-282AA0073CA1}"/>
              </a:ext>
            </a:extLst>
          </p:cNvPr>
          <p:cNvSpPr/>
          <p:nvPr/>
        </p:nvSpPr>
        <p:spPr>
          <a:xfrm flipH="1">
            <a:off x="8375373" y="15436406"/>
            <a:ext cx="199099" cy="436374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009F49A4-F90A-FE7F-E3DC-CD7BF233EBB6}"/>
              </a:ext>
            </a:extLst>
          </p:cNvPr>
          <p:cNvSpPr/>
          <p:nvPr/>
        </p:nvSpPr>
        <p:spPr>
          <a:xfrm>
            <a:off x="8387689" y="15882948"/>
            <a:ext cx="199098" cy="18330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0" name="Up Arrow 209">
            <a:extLst>
              <a:ext uri="{FF2B5EF4-FFF2-40B4-BE49-F238E27FC236}">
                <a16:creationId xmlns:a16="http://schemas.microsoft.com/office/drawing/2014/main" id="{6FCAC555-5F86-9531-7721-9A89C6DA30A3}"/>
              </a:ext>
            </a:extLst>
          </p:cNvPr>
          <p:cNvSpPr/>
          <p:nvPr/>
        </p:nvSpPr>
        <p:spPr>
          <a:xfrm rot="10800000" flipH="1">
            <a:off x="8381177" y="16080586"/>
            <a:ext cx="199099" cy="436374"/>
          </a:xfrm>
          <a:prstGeom prst="up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D9CCE61-B09E-C41B-6A9A-4FCCAD169AFC}"/>
              </a:ext>
            </a:extLst>
          </p:cNvPr>
          <p:cNvSpPr txBox="1"/>
          <p:nvPr/>
        </p:nvSpPr>
        <p:spPr>
          <a:xfrm>
            <a:off x="8578795" y="15220747"/>
            <a:ext cx="2236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en-US" sz="2400" b="1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reference,body</a:t>
            </a:r>
            <a:r>
              <a:rPr lang="en-US" altLang="en-US" sz="2400" b="1" kern="0" baseline="-25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05B2EFEE-33EB-2B6D-3022-C58D4497BA5E}"/>
              </a:ext>
            </a:extLst>
          </p:cNvPr>
          <p:cNvSpPr txBox="1"/>
          <p:nvPr/>
        </p:nvSpPr>
        <p:spPr>
          <a:xfrm>
            <a:off x="8578501" y="16229003"/>
            <a:ext cx="2446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en-US" sz="2400" b="1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reference,body</a:t>
            </a:r>
            <a:r>
              <a:rPr lang="en-US" altLang="en-US" sz="2400" b="1" kern="0" baseline="-25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0F910C63-E607-5E6E-3DD2-D8860B151DB6}"/>
              </a:ext>
            </a:extLst>
          </p:cNvPr>
          <p:cNvSpPr txBox="1"/>
          <p:nvPr/>
        </p:nvSpPr>
        <p:spPr>
          <a:xfrm>
            <a:off x="8573353" y="15726556"/>
            <a:ext cx="1471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en-US" sz="2400" b="1" kern="0" baseline="-25000" dirty="0"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A5C79188-A2CE-E8D3-F3FE-0E8893376D03}"/>
              </a:ext>
            </a:extLst>
          </p:cNvPr>
          <p:cNvSpPr txBox="1"/>
          <p:nvPr/>
        </p:nvSpPr>
        <p:spPr>
          <a:xfrm>
            <a:off x="5207665" y="16832224"/>
            <a:ext cx="2965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Race/ethnicity = k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5F481A78-5499-6A05-4C73-44B03A5BF839}"/>
              </a:ext>
            </a:extLst>
          </p:cNvPr>
          <p:cNvSpPr txBox="1"/>
          <p:nvPr/>
        </p:nvSpPr>
        <p:spPr>
          <a:xfrm>
            <a:off x="8160105" y="16849002"/>
            <a:ext cx="3074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Non-Hispanic Black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4CAF1860-1FB9-A9CF-BC9A-AB98930C9D8B}"/>
              </a:ext>
            </a:extLst>
          </p:cNvPr>
          <p:cNvSpPr txBox="1"/>
          <p:nvPr/>
        </p:nvSpPr>
        <p:spPr>
          <a:xfrm>
            <a:off x="11489888" y="14710107"/>
            <a:ext cx="16315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Percent Difference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 BP3</a:t>
            </a:r>
          </a:p>
        </p:txBody>
      </p:sp>
      <p:sp>
        <p:nvSpPr>
          <p:cNvPr id="226" name="Up Arrow 225">
            <a:extLst>
              <a:ext uri="{FF2B5EF4-FFF2-40B4-BE49-F238E27FC236}">
                <a16:creationId xmlns:a16="http://schemas.microsoft.com/office/drawing/2014/main" id="{369C93B4-06C1-DCA5-4943-B4C66D620337}"/>
              </a:ext>
            </a:extLst>
          </p:cNvPr>
          <p:cNvSpPr/>
          <p:nvPr/>
        </p:nvSpPr>
        <p:spPr>
          <a:xfrm flipH="1">
            <a:off x="13269121" y="14537096"/>
            <a:ext cx="199099" cy="436374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994DAAF5-9926-542C-07F1-A2FE375887D2}"/>
              </a:ext>
            </a:extLst>
          </p:cNvPr>
          <p:cNvSpPr/>
          <p:nvPr/>
        </p:nvSpPr>
        <p:spPr>
          <a:xfrm>
            <a:off x="13269863" y="14983638"/>
            <a:ext cx="199098" cy="18330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8" name="Up Arrow 227">
            <a:extLst>
              <a:ext uri="{FF2B5EF4-FFF2-40B4-BE49-F238E27FC236}">
                <a16:creationId xmlns:a16="http://schemas.microsoft.com/office/drawing/2014/main" id="{F268134C-B950-5BC1-1F5A-115D7FD82B90}"/>
              </a:ext>
            </a:extLst>
          </p:cNvPr>
          <p:cNvSpPr/>
          <p:nvPr/>
        </p:nvSpPr>
        <p:spPr>
          <a:xfrm rot="10800000" flipH="1">
            <a:off x="13274925" y="15181276"/>
            <a:ext cx="199099" cy="436374"/>
          </a:xfrm>
          <a:prstGeom prst="up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77926F79-10E5-B0A5-B410-5D4378D961CA}"/>
              </a:ext>
            </a:extLst>
          </p:cNvPr>
          <p:cNvCxnSpPr>
            <a:cxnSpLocks/>
          </p:cNvCxnSpPr>
          <p:nvPr/>
        </p:nvCxnSpPr>
        <p:spPr bwMode="auto">
          <a:xfrm>
            <a:off x="13169693" y="15899585"/>
            <a:ext cx="4572000" cy="0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212460BE-B3E5-1CF3-2606-9D30EF8D48F3}"/>
              </a:ext>
            </a:extLst>
          </p:cNvPr>
          <p:cNvCxnSpPr>
            <a:cxnSpLocks/>
          </p:cNvCxnSpPr>
          <p:nvPr/>
        </p:nvCxnSpPr>
        <p:spPr bwMode="auto">
          <a:xfrm flipV="1">
            <a:off x="13169688" y="14502149"/>
            <a:ext cx="0" cy="1423077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DFB36888-DEE1-F190-49F7-AC50EB73E45A}"/>
              </a:ext>
            </a:extLst>
          </p:cNvPr>
          <p:cNvSpPr txBox="1"/>
          <p:nvPr/>
        </p:nvSpPr>
        <p:spPr>
          <a:xfrm>
            <a:off x="13472546" y="14321437"/>
            <a:ext cx="16369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en-US" sz="2400" b="1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race,k_body</a:t>
            </a:r>
            <a:r>
              <a:rPr lang="en-US" altLang="en-US" sz="2400" b="1" kern="0" baseline="-25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CDAF833B-2D03-73B8-512B-BA60B0096E0B}"/>
              </a:ext>
            </a:extLst>
          </p:cNvPr>
          <p:cNvSpPr txBox="1"/>
          <p:nvPr/>
        </p:nvSpPr>
        <p:spPr>
          <a:xfrm>
            <a:off x="13472251" y="15329693"/>
            <a:ext cx="1688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en-US" sz="2400" b="1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race,k_body</a:t>
            </a:r>
            <a:r>
              <a:rPr lang="en-US" altLang="en-US" sz="2400" b="1" kern="0" baseline="-25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86C26BEA-62FD-B4C5-1E00-FD5F82117319}"/>
              </a:ext>
            </a:extLst>
          </p:cNvPr>
          <p:cNvSpPr txBox="1"/>
          <p:nvPr/>
        </p:nvSpPr>
        <p:spPr>
          <a:xfrm>
            <a:off x="13484226" y="14859220"/>
            <a:ext cx="965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en-US" sz="2400" b="1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race,k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9" name="Up Arrow 238">
            <a:extLst>
              <a:ext uri="{FF2B5EF4-FFF2-40B4-BE49-F238E27FC236}">
                <a16:creationId xmlns:a16="http://schemas.microsoft.com/office/drawing/2014/main" id="{A94EEA9C-C0C0-F7C8-443E-70DCA6214626}"/>
              </a:ext>
            </a:extLst>
          </p:cNvPr>
          <p:cNvSpPr/>
          <p:nvPr/>
        </p:nvSpPr>
        <p:spPr>
          <a:xfrm flipH="1">
            <a:off x="15497113" y="15366971"/>
            <a:ext cx="199099" cy="436374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id="{95F83E07-680E-C07D-3066-49CE4FD5369B}"/>
              </a:ext>
            </a:extLst>
          </p:cNvPr>
          <p:cNvSpPr/>
          <p:nvPr/>
        </p:nvSpPr>
        <p:spPr>
          <a:xfrm>
            <a:off x="15509429" y="15813513"/>
            <a:ext cx="199098" cy="18330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1" name="Up Arrow 240">
            <a:extLst>
              <a:ext uri="{FF2B5EF4-FFF2-40B4-BE49-F238E27FC236}">
                <a16:creationId xmlns:a16="http://schemas.microsoft.com/office/drawing/2014/main" id="{487B59A7-D661-4B9C-F777-2EB8A339F1E1}"/>
              </a:ext>
            </a:extLst>
          </p:cNvPr>
          <p:cNvSpPr/>
          <p:nvPr/>
        </p:nvSpPr>
        <p:spPr>
          <a:xfrm rot="10800000" flipH="1">
            <a:off x="15502917" y="16011151"/>
            <a:ext cx="199099" cy="436374"/>
          </a:xfrm>
          <a:prstGeom prst="up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D3DB6B81-87C7-370F-CE9E-0ECD62E9455C}"/>
              </a:ext>
            </a:extLst>
          </p:cNvPr>
          <p:cNvSpPr txBox="1"/>
          <p:nvPr/>
        </p:nvSpPr>
        <p:spPr>
          <a:xfrm>
            <a:off x="15700537" y="15151312"/>
            <a:ext cx="1911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en-US" sz="2400" b="1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reference,body</a:t>
            </a:r>
            <a:r>
              <a:rPr lang="en-US" altLang="en-US" sz="2400" b="1" kern="0" baseline="-25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24B2FD06-45EA-46C4-3600-071E8B379020}"/>
              </a:ext>
            </a:extLst>
          </p:cNvPr>
          <p:cNvSpPr txBox="1"/>
          <p:nvPr/>
        </p:nvSpPr>
        <p:spPr>
          <a:xfrm>
            <a:off x="15700243" y="16159568"/>
            <a:ext cx="1962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en-US" sz="2400" b="1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reference,body</a:t>
            </a:r>
            <a:r>
              <a:rPr lang="en-US" altLang="en-US" sz="2400" b="1" kern="0" baseline="-25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1C96128B-A6A3-1263-6FD0-A481F2149FE8}"/>
              </a:ext>
            </a:extLst>
          </p:cNvPr>
          <p:cNvSpPr txBox="1"/>
          <p:nvPr/>
        </p:nvSpPr>
        <p:spPr>
          <a:xfrm>
            <a:off x="15688978" y="15661029"/>
            <a:ext cx="1295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en-US" sz="2400" b="1" kern="0" baseline="-25000" dirty="0"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F95F9A6E-8AB3-8B1C-DD93-99374E0CD10C}"/>
              </a:ext>
            </a:extLst>
          </p:cNvPr>
          <p:cNvSpPr txBox="1"/>
          <p:nvPr/>
        </p:nvSpPr>
        <p:spPr>
          <a:xfrm>
            <a:off x="12536911" y="13311343"/>
            <a:ext cx="54649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Figure 4. Panel of arrow divergence 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and forest plots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510C1DA4-EA11-E33B-A99A-A8A76A3B3F6C}"/>
              </a:ext>
            </a:extLst>
          </p:cNvPr>
          <p:cNvSpPr txBox="1"/>
          <p:nvPr/>
        </p:nvSpPr>
        <p:spPr>
          <a:xfrm>
            <a:off x="5155139" y="13281828"/>
            <a:ext cx="54649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Figure 3. Panel of arrow divergence 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and forest plots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8EAD350B-6D79-9258-CCFB-0E2828B6B53A}"/>
              </a:ext>
            </a:extLst>
          </p:cNvPr>
          <p:cNvSpPr txBox="1"/>
          <p:nvPr/>
        </p:nvSpPr>
        <p:spPr>
          <a:xfrm>
            <a:off x="20414171" y="13405878"/>
            <a:ext cx="4321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Figure 5. Alphabet soup plot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C1A26CE3-4BF0-E137-B716-C28F3594F951}"/>
              </a:ext>
            </a:extLst>
          </p:cNvPr>
          <p:cNvSpPr txBox="1"/>
          <p:nvPr/>
        </p:nvSpPr>
        <p:spPr>
          <a:xfrm>
            <a:off x="1471731" y="13311342"/>
            <a:ext cx="30276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Figure 2. Violin plot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88985B8E-5099-8875-7A48-E49A02DF8C2A}"/>
              </a:ext>
            </a:extLst>
          </p:cNvPr>
          <p:cNvSpPr txBox="1"/>
          <p:nvPr/>
        </p:nvSpPr>
        <p:spPr>
          <a:xfrm>
            <a:off x="45760" y="14702287"/>
            <a:ext cx="15948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Biomarker levels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 BP3</a:t>
            </a:r>
          </a:p>
        </p:txBody>
      </p: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26D65354-A388-2B90-6BF1-6AA78EFDD21C}"/>
              </a:ext>
            </a:extLst>
          </p:cNvPr>
          <p:cNvCxnSpPr>
            <a:cxnSpLocks/>
          </p:cNvCxnSpPr>
          <p:nvPr/>
        </p:nvCxnSpPr>
        <p:spPr bwMode="auto">
          <a:xfrm flipV="1">
            <a:off x="1672175" y="16004539"/>
            <a:ext cx="2697378" cy="0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E1485691-AE54-7A61-8F78-3C7CD6AC042B}"/>
              </a:ext>
            </a:extLst>
          </p:cNvPr>
          <p:cNvCxnSpPr>
            <a:cxnSpLocks/>
          </p:cNvCxnSpPr>
          <p:nvPr/>
        </p:nvCxnSpPr>
        <p:spPr bwMode="auto">
          <a:xfrm flipV="1">
            <a:off x="1672175" y="14613156"/>
            <a:ext cx="0" cy="1423077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269" name="TextBox 268">
            <a:extLst>
              <a:ext uri="{FF2B5EF4-FFF2-40B4-BE49-F238E27FC236}">
                <a16:creationId xmlns:a16="http://schemas.microsoft.com/office/drawing/2014/main" id="{AEC0C995-70AD-89EB-8FDF-B7EC0AC7ABFB}"/>
              </a:ext>
            </a:extLst>
          </p:cNvPr>
          <p:cNvSpPr txBox="1"/>
          <p:nvPr/>
        </p:nvSpPr>
        <p:spPr>
          <a:xfrm>
            <a:off x="3096405" y="16021019"/>
            <a:ext cx="13871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Race/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ethnicity = k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DB6BEEAB-36F9-CD33-730E-E2D56B1A2643}"/>
              </a:ext>
            </a:extLst>
          </p:cNvPr>
          <p:cNvSpPr txBox="1"/>
          <p:nvPr/>
        </p:nvSpPr>
        <p:spPr>
          <a:xfrm>
            <a:off x="1473584" y="16208514"/>
            <a:ext cx="1668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All Women</a:t>
            </a:r>
          </a:p>
        </p:txBody>
      </p:sp>
      <p:sp>
        <p:nvSpPr>
          <p:cNvPr id="277" name="Teardrop 276">
            <a:extLst>
              <a:ext uri="{FF2B5EF4-FFF2-40B4-BE49-F238E27FC236}">
                <a16:creationId xmlns:a16="http://schemas.microsoft.com/office/drawing/2014/main" id="{4A2B45A4-70CE-3255-1E13-EAAE465F4501}"/>
              </a:ext>
            </a:extLst>
          </p:cNvPr>
          <p:cNvSpPr/>
          <p:nvPr/>
        </p:nvSpPr>
        <p:spPr>
          <a:xfrm rot="18839780">
            <a:off x="1748533" y="15008851"/>
            <a:ext cx="457200" cy="457200"/>
          </a:xfrm>
          <a:prstGeom prst="teardrop">
            <a:avLst>
              <a:gd name="adj" fmla="val 19987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8" name="Teardrop 277">
            <a:extLst>
              <a:ext uri="{FF2B5EF4-FFF2-40B4-BE49-F238E27FC236}">
                <a16:creationId xmlns:a16="http://schemas.microsoft.com/office/drawing/2014/main" id="{1EB3D2BC-2414-F57E-696A-83C78C318C38}"/>
              </a:ext>
            </a:extLst>
          </p:cNvPr>
          <p:cNvSpPr/>
          <p:nvPr/>
        </p:nvSpPr>
        <p:spPr>
          <a:xfrm rot="8104611">
            <a:off x="1748511" y="15082347"/>
            <a:ext cx="457200" cy="457200"/>
          </a:xfrm>
          <a:prstGeom prst="teardrop">
            <a:avLst>
              <a:gd name="adj" fmla="val 19987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9" name="Teardrop 278">
            <a:extLst>
              <a:ext uri="{FF2B5EF4-FFF2-40B4-BE49-F238E27FC236}">
                <a16:creationId xmlns:a16="http://schemas.microsoft.com/office/drawing/2014/main" id="{779B8E75-78A4-7BC9-B205-9BC2979E013C}"/>
              </a:ext>
            </a:extLst>
          </p:cNvPr>
          <p:cNvSpPr/>
          <p:nvPr/>
        </p:nvSpPr>
        <p:spPr>
          <a:xfrm rot="18839598">
            <a:off x="2271034" y="14857597"/>
            <a:ext cx="457200" cy="457200"/>
          </a:xfrm>
          <a:prstGeom prst="teardrop">
            <a:avLst>
              <a:gd name="adj" fmla="val 19987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0" name="Teardrop 279">
            <a:extLst>
              <a:ext uri="{FF2B5EF4-FFF2-40B4-BE49-F238E27FC236}">
                <a16:creationId xmlns:a16="http://schemas.microsoft.com/office/drawing/2014/main" id="{9B617EB3-C866-0A01-9B02-59E36A494164}"/>
              </a:ext>
            </a:extLst>
          </p:cNvPr>
          <p:cNvSpPr/>
          <p:nvPr/>
        </p:nvSpPr>
        <p:spPr>
          <a:xfrm rot="8104611">
            <a:off x="2271012" y="14931093"/>
            <a:ext cx="457200" cy="457200"/>
          </a:xfrm>
          <a:prstGeom prst="teardrop">
            <a:avLst>
              <a:gd name="adj" fmla="val 19987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2" name="Teardrop 281">
            <a:extLst>
              <a:ext uri="{FF2B5EF4-FFF2-40B4-BE49-F238E27FC236}">
                <a16:creationId xmlns:a16="http://schemas.microsoft.com/office/drawing/2014/main" id="{945DB1C6-E282-91E9-09A2-0F1BC33A06A1}"/>
              </a:ext>
            </a:extLst>
          </p:cNvPr>
          <p:cNvSpPr/>
          <p:nvPr/>
        </p:nvSpPr>
        <p:spPr>
          <a:xfrm rot="18864886">
            <a:off x="3268420" y="14726270"/>
            <a:ext cx="457200" cy="457200"/>
          </a:xfrm>
          <a:prstGeom prst="teardrop">
            <a:avLst>
              <a:gd name="adj" fmla="val 19987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3" name="Teardrop 282">
            <a:extLst>
              <a:ext uri="{FF2B5EF4-FFF2-40B4-BE49-F238E27FC236}">
                <a16:creationId xmlns:a16="http://schemas.microsoft.com/office/drawing/2014/main" id="{0CC283AB-C17C-D873-3FD3-1726BB4D3420}"/>
              </a:ext>
            </a:extLst>
          </p:cNvPr>
          <p:cNvSpPr/>
          <p:nvPr/>
        </p:nvSpPr>
        <p:spPr>
          <a:xfrm rot="8104611">
            <a:off x="3268398" y="14799766"/>
            <a:ext cx="457200" cy="457200"/>
          </a:xfrm>
          <a:prstGeom prst="teardrop">
            <a:avLst>
              <a:gd name="adj" fmla="val 19987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4" name="Teardrop 283">
            <a:extLst>
              <a:ext uri="{FF2B5EF4-FFF2-40B4-BE49-F238E27FC236}">
                <a16:creationId xmlns:a16="http://schemas.microsoft.com/office/drawing/2014/main" id="{4FA77CE6-DB71-1C79-5F91-A8C419F0768C}"/>
              </a:ext>
            </a:extLst>
          </p:cNvPr>
          <p:cNvSpPr/>
          <p:nvPr/>
        </p:nvSpPr>
        <p:spPr>
          <a:xfrm rot="18942236">
            <a:off x="3797047" y="14976040"/>
            <a:ext cx="457200" cy="457200"/>
          </a:xfrm>
          <a:prstGeom prst="teardrop">
            <a:avLst>
              <a:gd name="adj" fmla="val 19987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5" name="Teardrop 284">
            <a:extLst>
              <a:ext uri="{FF2B5EF4-FFF2-40B4-BE49-F238E27FC236}">
                <a16:creationId xmlns:a16="http://schemas.microsoft.com/office/drawing/2014/main" id="{86E1861D-FBAA-B721-09F9-6026667E4BB2}"/>
              </a:ext>
            </a:extLst>
          </p:cNvPr>
          <p:cNvSpPr/>
          <p:nvPr/>
        </p:nvSpPr>
        <p:spPr>
          <a:xfrm rot="8104611">
            <a:off x="3797025" y="15049536"/>
            <a:ext cx="457200" cy="457200"/>
          </a:xfrm>
          <a:prstGeom prst="teardrop">
            <a:avLst>
              <a:gd name="adj" fmla="val 19987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85AC765F-D28D-6D99-45A8-AD52CABD38EA}"/>
              </a:ext>
            </a:extLst>
          </p:cNvPr>
          <p:cNvSpPr/>
          <p:nvPr/>
        </p:nvSpPr>
        <p:spPr>
          <a:xfrm>
            <a:off x="1923897" y="15097513"/>
            <a:ext cx="91440" cy="1828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0D4ECD8C-1907-E3F8-EFE4-65DBF931A149}"/>
              </a:ext>
            </a:extLst>
          </p:cNvPr>
          <p:cNvSpPr/>
          <p:nvPr/>
        </p:nvSpPr>
        <p:spPr>
          <a:xfrm>
            <a:off x="1923897" y="15285278"/>
            <a:ext cx="91440" cy="1828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23C474B3-2863-FDE5-3FBE-C70F6042AE80}"/>
              </a:ext>
            </a:extLst>
          </p:cNvPr>
          <p:cNvCxnSpPr>
            <a:cxnSpLocks/>
          </p:cNvCxnSpPr>
          <p:nvPr/>
        </p:nvCxnSpPr>
        <p:spPr>
          <a:xfrm>
            <a:off x="1965202" y="14786794"/>
            <a:ext cx="0" cy="3107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1D164D80-31A5-1728-C7AD-5C3F4F86C1F4}"/>
              </a:ext>
            </a:extLst>
          </p:cNvPr>
          <p:cNvCxnSpPr>
            <a:cxnSpLocks/>
          </p:cNvCxnSpPr>
          <p:nvPr/>
        </p:nvCxnSpPr>
        <p:spPr>
          <a:xfrm>
            <a:off x="1970812" y="15466849"/>
            <a:ext cx="0" cy="3107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Rectangle 295">
            <a:extLst>
              <a:ext uri="{FF2B5EF4-FFF2-40B4-BE49-F238E27FC236}">
                <a16:creationId xmlns:a16="http://schemas.microsoft.com/office/drawing/2014/main" id="{0BBF3419-7DD6-E7DB-DBA9-37EB027F46DC}"/>
              </a:ext>
            </a:extLst>
          </p:cNvPr>
          <p:cNvSpPr/>
          <p:nvPr/>
        </p:nvSpPr>
        <p:spPr>
          <a:xfrm>
            <a:off x="2445666" y="14951646"/>
            <a:ext cx="91440" cy="1828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888B1492-3825-5FFD-ABBA-53388B0DED97}"/>
              </a:ext>
            </a:extLst>
          </p:cNvPr>
          <p:cNvSpPr/>
          <p:nvPr/>
        </p:nvSpPr>
        <p:spPr>
          <a:xfrm>
            <a:off x="2445666" y="15139411"/>
            <a:ext cx="91440" cy="1828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D6CCD22C-3F79-8718-1D7A-C4DFF1A0FBA4}"/>
              </a:ext>
            </a:extLst>
          </p:cNvPr>
          <p:cNvCxnSpPr>
            <a:cxnSpLocks/>
          </p:cNvCxnSpPr>
          <p:nvPr/>
        </p:nvCxnSpPr>
        <p:spPr>
          <a:xfrm>
            <a:off x="2486971" y="14640927"/>
            <a:ext cx="0" cy="3107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B6C3C13E-DF6A-0EAF-298F-6997A6C77791}"/>
              </a:ext>
            </a:extLst>
          </p:cNvPr>
          <p:cNvCxnSpPr>
            <a:cxnSpLocks/>
          </p:cNvCxnSpPr>
          <p:nvPr/>
        </p:nvCxnSpPr>
        <p:spPr>
          <a:xfrm>
            <a:off x="2492581" y="15320982"/>
            <a:ext cx="0" cy="3107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Rectangle 299">
            <a:extLst>
              <a:ext uri="{FF2B5EF4-FFF2-40B4-BE49-F238E27FC236}">
                <a16:creationId xmlns:a16="http://schemas.microsoft.com/office/drawing/2014/main" id="{89C33A67-780F-61A2-0196-35F719AE6D36}"/>
              </a:ext>
            </a:extLst>
          </p:cNvPr>
          <p:cNvSpPr/>
          <p:nvPr/>
        </p:nvSpPr>
        <p:spPr>
          <a:xfrm>
            <a:off x="3448883" y="14801442"/>
            <a:ext cx="91440" cy="1828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E67FBACB-D075-5A7D-9017-BFCE7EE5A30E}"/>
              </a:ext>
            </a:extLst>
          </p:cNvPr>
          <p:cNvSpPr/>
          <p:nvPr/>
        </p:nvSpPr>
        <p:spPr>
          <a:xfrm>
            <a:off x="3448883" y="14989207"/>
            <a:ext cx="91440" cy="1828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41390312-B8EC-C5DD-2B5E-7148BEA3F85F}"/>
              </a:ext>
            </a:extLst>
          </p:cNvPr>
          <p:cNvCxnSpPr>
            <a:cxnSpLocks/>
          </p:cNvCxnSpPr>
          <p:nvPr/>
        </p:nvCxnSpPr>
        <p:spPr>
          <a:xfrm>
            <a:off x="3490188" y="14490723"/>
            <a:ext cx="0" cy="3107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31E0CEDC-C0F6-E638-4838-188180340A86}"/>
              </a:ext>
            </a:extLst>
          </p:cNvPr>
          <p:cNvCxnSpPr>
            <a:cxnSpLocks/>
          </p:cNvCxnSpPr>
          <p:nvPr/>
        </p:nvCxnSpPr>
        <p:spPr>
          <a:xfrm>
            <a:off x="3495798" y="15170778"/>
            <a:ext cx="0" cy="3107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Rectangle 303">
            <a:extLst>
              <a:ext uri="{FF2B5EF4-FFF2-40B4-BE49-F238E27FC236}">
                <a16:creationId xmlns:a16="http://schemas.microsoft.com/office/drawing/2014/main" id="{4FADBFF6-3CD2-E50F-FE32-70D9C68C576C}"/>
              </a:ext>
            </a:extLst>
          </p:cNvPr>
          <p:cNvSpPr/>
          <p:nvPr/>
        </p:nvSpPr>
        <p:spPr>
          <a:xfrm>
            <a:off x="3981839" y="15032128"/>
            <a:ext cx="91440" cy="1828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90838E97-76F3-F63A-930F-F203E98C09B2}"/>
              </a:ext>
            </a:extLst>
          </p:cNvPr>
          <p:cNvSpPr/>
          <p:nvPr/>
        </p:nvSpPr>
        <p:spPr>
          <a:xfrm>
            <a:off x="3981839" y="15219893"/>
            <a:ext cx="91440" cy="1828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277B6945-F018-DFE8-BA97-EDB388259057}"/>
              </a:ext>
            </a:extLst>
          </p:cNvPr>
          <p:cNvCxnSpPr>
            <a:cxnSpLocks/>
          </p:cNvCxnSpPr>
          <p:nvPr/>
        </p:nvCxnSpPr>
        <p:spPr>
          <a:xfrm>
            <a:off x="4023144" y="14721409"/>
            <a:ext cx="0" cy="3107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27FAFE4B-0BEC-1F45-C492-4D5698AA19AD}"/>
              </a:ext>
            </a:extLst>
          </p:cNvPr>
          <p:cNvCxnSpPr>
            <a:cxnSpLocks/>
          </p:cNvCxnSpPr>
          <p:nvPr/>
        </p:nvCxnSpPr>
        <p:spPr>
          <a:xfrm>
            <a:off x="4028754" y="15401464"/>
            <a:ext cx="0" cy="3107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Arrow Connector 309">
            <a:extLst>
              <a:ext uri="{FF2B5EF4-FFF2-40B4-BE49-F238E27FC236}">
                <a16:creationId xmlns:a16="http://schemas.microsoft.com/office/drawing/2014/main" id="{C851C5A2-66D6-94E2-DDC9-C33E10E79EB2}"/>
              </a:ext>
            </a:extLst>
          </p:cNvPr>
          <p:cNvCxnSpPr>
            <a:cxnSpLocks/>
          </p:cNvCxnSpPr>
          <p:nvPr/>
        </p:nvCxnSpPr>
        <p:spPr bwMode="auto">
          <a:xfrm flipH="1">
            <a:off x="13672774" y="12469893"/>
            <a:ext cx="0" cy="73152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4F5E15C8-D7D6-03E1-F0D7-BAB0978DF6B8}"/>
              </a:ext>
            </a:extLst>
          </p:cNvPr>
          <p:cNvCxnSpPr>
            <a:cxnSpLocks/>
          </p:cNvCxnSpPr>
          <p:nvPr/>
        </p:nvCxnSpPr>
        <p:spPr bwMode="auto">
          <a:xfrm>
            <a:off x="4184526" y="12346818"/>
            <a:ext cx="17830800" cy="0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312" name="Straight Arrow Connector 311">
            <a:extLst>
              <a:ext uri="{FF2B5EF4-FFF2-40B4-BE49-F238E27FC236}">
                <a16:creationId xmlns:a16="http://schemas.microsoft.com/office/drawing/2014/main" id="{BE04860C-C066-482D-1942-E29784D396CD}"/>
              </a:ext>
            </a:extLst>
          </p:cNvPr>
          <p:cNvCxnSpPr>
            <a:cxnSpLocks/>
          </p:cNvCxnSpPr>
          <p:nvPr/>
        </p:nvCxnSpPr>
        <p:spPr bwMode="auto">
          <a:xfrm flipH="1">
            <a:off x="13688089" y="11321884"/>
            <a:ext cx="0" cy="73152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313" name="Straight Connector 63">
            <a:extLst>
              <a:ext uri="{FF2B5EF4-FFF2-40B4-BE49-F238E27FC236}">
                <a16:creationId xmlns:a16="http://schemas.microsoft.com/office/drawing/2014/main" id="{4316B1FB-60D6-B3D0-DDE7-CEAA5824A7D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03025" y="12059995"/>
            <a:ext cx="777875" cy="77946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sp>
        <p:nvSpPr>
          <p:cNvPr id="314" name="Rounded Rectangle 313">
            <a:extLst>
              <a:ext uri="{FF2B5EF4-FFF2-40B4-BE49-F238E27FC236}">
                <a16:creationId xmlns:a16="http://schemas.microsoft.com/office/drawing/2014/main" id="{58FF8889-3CC4-AC55-4C2A-0349F9F118AB}"/>
              </a:ext>
            </a:extLst>
          </p:cNvPr>
          <p:cNvSpPr/>
          <p:nvPr/>
        </p:nvSpPr>
        <p:spPr bwMode="auto">
          <a:xfrm>
            <a:off x="10311835" y="12142585"/>
            <a:ext cx="6691310" cy="548640"/>
          </a:xfrm>
          <a:prstGeom prst="roundRect">
            <a:avLst/>
          </a:prstGeom>
          <a:solidFill>
            <a:srgbClr val="000066"/>
          </a:solidFill>
          <a:ln w="25400" cap="flat" cmpd="sng" algn="ctr">
            <a:solidFill>
              <a:srgbClr val="2D2D8A"/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3200" b="1" kern="0" dirty="0">
                <a:solidFill>
                  <a:srgbClr val="F0A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Visualization</a:t>
            </a:r>
          </a:p>
        </p:txBody>
      </p:sp>
      <p:cxnSp>
        <p:nvCxnSpPr>
          <p:cNvPr id="316" name="Straight Arrow Connector 315">
            <a:extLst>
              <a:ext uri="{FF2B5EF4-FFF2-40B4-BE49-F238E27FC236}">
                <a16:creationId xmlns:a16="http://schemas.microsoft.com/office/drawing/2014/main" id="{7DC4FB93-3806-7009-28D1-F9F29F876585}"/>
              </a:ext>
            </a:extLst>
          </p:cNvPr>
          <p:cNvCxnSpPr/>
          <p:nvPr/>
        </p:nvCxnSpPr>
        <p:spPr bwMode="auto">
          <a:xfrm>
            <a:off x="4206742" y="12346818"/>
            <a:ext cx="0" cy="82296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317" name="Straight Arrow Connector 316">
            <a:extLst>
              <a:ext uri="{FF2B5EF4-FFF2-40B4-BE49-F238E27FC236}">
                <a16:creationId xmlns:a16="http://schemas.microsoft.com/office/drawing/2014/main" id="{2F6905F4-4632-AC84-94E6-EFEBB6F1BEF5}"/>
              </a:ext>
            </a:extLst>
          </p:cNvPr>
          <p:cNvCxnSpPr/>
          <p:nvPr/>
        </p:nvCxnSpPr>
        <p:spPr bwMode="auto">
          <a:xfrm>
            <a:off x="21977908" y="12361998"/>
            <a:ext cx="0" cy="82296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37DFE757-6DBF-A674-3AB0-AE0A03A1572E}"/>
              </a:ext>
            </a:extLst>
          </p:cNvPr>
          <p:cNvCxnSpPr>
            <a:cxnSpLocks/>
          </p:cNvCxnSpPr>
          <p:nvPr/>
        </p:nvCxnSpPr>
        <p:spPr bwMode="auto">
          <a:xfrm>
            <a:off x="4225018" y="11405011"/>
            <a:ext cx="17830800" cy="0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0742B314-6BD5-9B98-4EFB-873EC061F855}"/>
              </a:ext>
            </a:extLst>
          </p:cNvPr>
          <p:cNvCxnSpPr/>
          <p:nvPr/>
        </p:nvCxnSpPr>
        <p:spPr bwMode="auto">
          <a:xfrm flipH="1">
            <a:off x="22033772" y="10937664"/>
            <a:ext cx="0" cy="457200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9339B3BF-1A05-2843-F9FC-FFF5A33DF11D}"/>
              </a:ext>
            </a:extLst>
          </p:cNvPr>
          <p:cNvCxnSpPr/>
          <p:nvPr/>
        </p:nvCxnSpPr>
        <p:spPr bwMode="auto">
          <a:xfrm flipH="1">
            <a:off x="13689394" y="10937664"/>
            <a:ext cx="0" cy="457200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553F2AFA-B339-3351-8319-44E806014320}"/>
              </a:ext>
            </a:extLst>
          </p:cNvPr>
          <p:cNvCxnSpPr/>
          <p:nvPr/>
        </p:nvCxnSpPr>
        <p:spPr bwMode="auto">
          <a:xfrm flipH="1">
            <a:off x="4240279" y="10947811"/>
            <a:ext cx="0" cy="457200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324" name="TextBox 51">
            <a:extLst>
              <a:ext uri="{FF2B5EF4-FFF2-40B4-BE49-F238E27FC236}">
                <a16:creationId xmlns:a16="http://schemas.microsoft.com/office/drawing/2014/main" id="{8B95FEB0-3CBB-1579-32E8-D6E14E919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78493" y="5508479"/>
            <a:ext cx="16643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1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0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2003-2016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39D161A0-8860-BFD1-313A-5CDF4E39C9F0}"/>
              </a:ext>
            </a:extLst>
          </p:cNvPr>
          <p:cNvSpPr txBox="1"/>
          <p:nvPr/>
        </p:nvSpPr>
        <p:spPr>
          <a:xfrm>
            <a:off x="12274155" y="16817292"/>
            <a:ext cx="2965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Race/ethnicity = k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E4F5654-AEB4-EAB6-3CF1-C55969687F1A}"/>
              </a:ext>
            </a:extLst>
          </p:cNvPr>
          <p:cNvSpPr txBox="1"/>
          <p:nvPr/>
        </p:nvSpPr>
        <p:spPr>
          <a:xfrm>
            <a:off x="15226595" y="16834070"/>
            <a:ext cx="3074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Non-Hispanic Black</a:t>
            </a:r>
          </a:p>
        </p:txBody>
      </p:sp>
    </p:spTree>
    <p:extLst>
      <p:ext uri="{BB962C8B-B14F-4D97-AF65-F5344CB8AC3E}">
        <p14:creationId xmlns:p14="http://schemas.microsoft.com/office/powerpoint/2010/main" val="276511980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213">
            <a:extLst>
              <a:ext uri="{FF2B5EF4-FFF2-40B4-BE49-F238E27FC236}">
                <a16:creationId xmlns:a16="http://schemas.microsoft.com/office/drawing/2014/main" id="{A034CB09-3041-61D8-16AB-C0ABCD161A3C}"/>
              </a:ext>
            </a:extLst>
          </p:cNvPr>
          <p:cNvSpPr/>
          <p:nvPr/>
        </p:nvSpPr>
        <p:spPr>
          <a:xfrm>
            <a:off x="0" y="0"/>
            <a:ext cx="26517600" cy="25603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60">
            <a:extLst>
              <a:ext uri="{FF2B5EF4-FFF2-40B4-BE49-F238E27FC236}">
                <a16:creationId xmlns:a16="http://schemas.microsoft.com/office/drawing/2014/main" id="{C8D43AD3-F2E6-D46F-2EE5-40AB3F5FDD1C}"/>
              </a:ext>
            </a:extLst>
          </p:cNvPr>
          <p:cNvSpPr/>
          <p:nvPr/>
        </p:nvSpPr>
        <p:spPr>
          <a:xfrm>
            <a:off x="10220890" y="6628725"/>
            <a:ext cx="6691310" cy="1458960"/>
          </a:xfrm>
          <a:custGeom>
            <a:avLst/>
            <a:gdLst>
              <a:gd name="connsiteX0" fmla="*/ 0 w 4114800"/>
              <a:gd name="connsiteY0" fmla="*/ 242321 h 1453896"/>
              <a:gd name="connsiteX1" fmla="*/ 242321 w 4114800"/>
              <a:gd name="connsiteY1" fmla="*/ 0 h 1453896"/>
              <a:gd name="connsiteX2" fmla="*/ 3872479 w 4114800"/>
              <a:gd name="connsiteY2" fmla="*/ 0 h 1453896"/>
              <a:gd name="connsiteX3" fmla="*/ 4114800 w 4114800"/>
              <a:gd name="connsiteY3" fmla="*/ 242321 h 1453896"/>
              <a:gd name="connsiteX4" fmla="*/ 4114800 w 4114800"/>
              <a:gd name="connsiteY4" fmla="*/ 1211575 h 1453896"/>
              <a:gd name="connsiteX5" fmla="*/ 3872479 w 4114800"/>
              <a:gd name="connsiteY5" fmla="*/ 1453896 h 1453896"/>
              <a:gd name="connsiteX6" fmla="*/ 242321 w 4114800"/>
              <a:gd name="connsiteY6" fmla="*/ 1453896 h 1453896"/>
              <a:gd name="connsiteX7" fmla="*/ 0 w 4114800"/>
              <a:gd name="connsiteY7" fmla="*/ 1211575 h 1453896"/>
              <a:gd name="connsiteX8" fmla="*/ 0 w 4114800"/>
              <a:gd name="connsiteY8" fmla="*/ 242321 h 1453896"/>
              <a:gd name="connsiteX0" fmla="*/ 0 w 4126089"/>
              <a:gd name="connsiteY0" fmla="*/ 242321 h 1454066"/>
              <a:gd name="connsiteX1" fmla="*/ 242321 w 4126089"/>
              <a:gd name="connsiteY1" fmla="*/ 0 h 1454066"/>
              <a:gd name="connsiteX2" fmla="*/ 3872479 w 4126089"/>
              <a:gd name="connsiteY2" fmla="*/ 0 h 1454066"/>
              <a:gd name="connsiteX3" fmla="*/ 4114800 w 4126089"/>
              <a:gd name="connsiteY3" fmla="*/ 242321 h 1454066"/>
              <a:gd name="connsiteX4" fmla="*/ 4126089 w 4126089"/>
              <a:gd name="connsiteY4" fmla="*/ 1330108 h 1454066"/>
              <a:gd name="connsiteX5" fmla="*/ 3872479 w 4126089"/>
              <a:gd name="connsiteY5" fmla="*/ 1453896 h 1454066"/>
              <a:gd name="connsiteX6" fmla="*/ 242321 w 4126089"/>
              <a:gd name="connsiteY6" fmla="*/ 1453896 h 1454066"/>
              <a:gd name="connsiteX7" fmla="*/ 0 w 4126089"/>
              <a:gd name="connsiteY7" fmla="*/ 1211575 h 1454066"/>
              <a:gd name="connsiteX8" fmla="*/ 0 w 4126089"/>
              <a:gd name="connsiteY8" fmla="*/ 242321 h 1454066"/>
              <a:gd name="connsiteX0" fmla="*/ 0 w 4126089"/>
              <a:gd name="connsiteY0" fmla="*/ 242321 h 1458960"/>
              <a:gd name="connsiteX1" fmla="*/ 242321 w 4126089"/>
              <a:gd name="connsiteY1" fmla="*/ 0 h 1458960"/>
              <a:gd name="connsiteX2" fmla="*/ 3872479 w 4126089"/>
              <a:gd name="connsiteY2" fmla="*/ 0 h 1458960"/>
              <a:gd name="connsiteX3" fmla="*/ 4114800 w 4126089"/>
              <a:gd name="connsiteY3" fmla="*/ 242321 h 1458960"/>
              <a:gd name="connsiteX4" fmla="*/ 4126089 w 4126089"/>
              <a:gd name="connsiteY4" fmla="*/ 1330108 h 1458960"/>
              <a:gd name="connsiteX5" fmla="*/ 3872479 w 4126089"/>
              <a:gd name="connsiteY5" fmla="*/ 1453896 h 1458960"/>
              <a:gd name="connsiteX6" fmla="*/ 242321 w 4126089"/>
              <a:gd name="connsiteY6" fmla="*/ 1453896 h 1458960"/>
              <a:gd name="connsiteX7" fmla="*/ 0 w 4126089"/>
              <a:gd name="connsiteY7" fmla="*/ 1358330 h 1458960"/>
              <a:gd name="connsiteX8" fmla="*/ 0 w 4126089"/>
              <a:gd name="connsiteY8" fmla="*/ 242321 h 145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6089" h="1458960">
                <a:moveTo>
                  <a:pt x="0" y="242321"/>
                </a:moveTo>
                <a:cubicBezTo>
                  <a:pt x="0" y="108491"/>
                  <a:pt x="108491" y="0"/>
                  <a:pt x="242321" y="0"/>
                </a:cubicBezTo>
                <a:lnTo>
                  <a:pt x="3872479" y="0"/>
                </a:lnTo>
                <a:cubicBezTo>
                  <a:pt x="4006309" y="0"/>
                  <a:pt x="4114800" y="108491"/>
                  <a:pt x="4114800" y="242321"/>
                </a:cubicBezTo>
                <a:cubicBezTo>
                  <a:pt x="4114800" y="565406"/>
                  <a:pt x="4126089" y="1007023"/>
                  <a:pt x="4126089" y="1330108"/>
                </a:cubicBezTo>
                <a:cubicBezTo>
                  <a:pt x="4126089" y="1463938"/>
                  <a:pt x="4006309" y="1453896"/>
                  <a:pt x="3872479" y="1453896"/>
                </a:cubicBezTo>
                <a:lnTo>
                  <a:pt x="242321" y="1453896"/>
                </a:lnTo>
                <a:cubicBezTo>
                  <a:pt x="108491" y="1453896"/>
                  <a:pt x="0" y="1492160"/>
                  <a:pt x="0" y="1358330"/>
                </a:cubicBezTo>
                <a:lnTo>
                  <a:pt x="0" y="242321"/>
                </a:lnTo>
                <a:close/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ounded Rectangle 160">
            <a:extLst>
              <a:ext uri="{FF2B5EF4-FFF2-40B4-BE49-F238E27FC236}">
                <a16:creationId xmlns:a16="http://schemas.microsoft.com/office/drawing/2014/main" id="{551638F6-688D-92D5-BD53-E23FC4C666D1}"/>
              </a:ext>
            </a:extLst>
          </p:cNvPr>
          <p:cNvSpPr/>
          <p:nvPr/>
        </p:nvSpPr>
        <p:spPr>
          <a:xfrm>
            <a:off x="711015" y="6563142"/>
            <a:ext cx="6691310" cy="1458960"/>
          </a:xfrm>
          <a:custGeom>
            <a:avLst/>
            <a:gdLst>
              <a:gd name="connsiteX0" fmla="*/ 0 w 4114800"/>
              <a:gd name="connsiteY0" fmla="*/ 242321 h 1453896"/>
              <a:gd name="connsiteX1" fmla="*/ 242321 w 4114800"/>
              <a:gd name="connsiteY1" fmla="*/ 0 h 1453896"/>
              <a:gd name="connsiteX2" fmla="*/ 3872479 w 4114800"/>
              <a:gd name="connsiteY2" fmla="*/ 0 h 1453896"/>
              <a:gd name="connsiteX3" fmla="*/ 4114800 w 4114800"/>
              <a:gd name="connsiteY3" fmla="*/ 242321 h 1453896"/>
              <a:gd name="connsiteX4" fmla="*/ 4114800 w 4114800"/>
              <a:gd name="connsiteY4" fmla="*/ 1211575 h 1453896"/>
              <a:gd name="connsiteX5" fmla="*/ 3872479 w 4114800"/>
              <a:gd name="connsiteY5" fmla="*/ 1453896 h 1453896"/>
              <a:gd name="connsiteX6" fmla="*/ 242321 w 4114800"/>
              <a:gd name="connsiteY6" fmla="*/ 1453896 h 1453896"/>
              <a:gd name="connsiteX7" fmla="*/ 0 w 4114800"/>
              <a:gd name="connsiteY7" fmla="*/ 1211575 h 1453896"/>
              <a:gd name="connsiteX8" fmla="*/ 0 w 4114800"/>
              <a:gd name="connsiteY8" fmla="*/ 242321 h 1453896"/>
              <a:gd name="connsiteX0" fmla="*/ 0 w 4126089"/>
              <a:gd name="connsiteY0" fmla="*/ 242321 h 1454066"/>
              <a:gd name="connsiteX1" fmla="*/ 242321 w 4126089"/>
              <a:gd name="connsiteY1" fmla="*/ 0 h 1454066"/>
              <a:gd name="connsiteX2" fmla="*/ 3872479 w 4126089"/>
              <a:gd name="connsiteY2" fmla="*/ 0 h 1454066"/>
              <a:gd name="connsiteX3" fmla="*/ 4114800 w 4126089"/>
              <a:gd name="connsiteY3" fmla="*/ 242321 h 1454066"/>
              <a:gd name="connsiteX4" fmla="*/ 4126089 w 4126089"/>
              <a:gd name="connsiteY4" fmla="*/ 1330108 h 1454066"/>
              <a:gd name="connsiteX5" fmla="*/ 3872479 w 4126089"/>
              <a:gd name="connsiteY5" fmla="*/ 1453896 h 1454066"/>
              <a:gd name="connsiteX6" fmla="*/ 242321 w 4126089"/>
              <a:gd name="connsiteY6" fmla="*/ 1453896 h 1454066"/>
              <a:gd name="connsiteX7" fmla="*/ 0 w 4126089"/>
              <a:gd name="connsiteY7" fmla="*/ 1211575 h 1454066"/>
              <a:gd name="connsiteX8" fmla="*/ 0 w 4126089"/>
              <a:gd name="connsiteY8" fmla="*/ 242321 h 1454066"/>
              <a:gd name="connsiteX0" fmla="*/ 0 w 4126089"/>
              <a:gd name="connsiteY0" fmla="*/ 242321 h 1458960"/>
              <a:gd name="connsiteX1" fmla="*/ 242321 w 4126089"/>
              <a:gd name="connsiteY1" fmla="*/ 0 h 1458960"/>
              <a:gd name="connsiteX2" fmla="*/ 3872479 w 4126089"/>
              <a:gd name="connsiteY2" fmla="*/ 0 h 1458960"/>
              <a:gd name="connsiteX3" fmla="*/ 4114800 w 4126089"/>
              <a:gd name="connsiteY3" fmla="*/ 242321 h 1458960"/>
              <a:gd name="connsiteX4" fmla="*/ 4126089 w 4126089"/>
              <a:gd name="connsiteY4" fmla="*/ 1330108 h 1458960"/>
              <a:gd name="connsiteX5" fmla="*/ 3872479 w 4126089"/>
              <a:gd name="connsiteY5" fmla="*/ 1453896 h 1458960"/>
              <a:gd name="connsiteX6" fmla="*/ 242321 w 4126089"/>
              <a:gd name="connsiteY6" fmla="*/ 1453896 h 1458960"/>
              <a:gd name="connsiteX7" fmla="*/ 0 w 4126089"/>
              <a:gd name="connsiteY7" fmla="*/ 1358330 h 1458960"/>
              <a:gd name="connsiteX8" fmla="*/ 0 w 4126089"/>
              <a:gd name="connsiteY8" fmla="*/ 242321 h 145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6089" h="1458960">
                <a:moveTo>
                  <a:pt x="0" y="242321"/>
                </a:moveTo>
                <a:cubicBezTo>
                  <a:pt x="0" y="108491"/>
                  <a:pt x="108491" y="0"/>
                  <a:pt x="242321" y="0"/>
                </a:cubicBezTo>
                <a:lnTo>
                  <a:pt x="3872479" y="0"/>
                </a:lnTo>
                <a:cubicBezTo>
                  <a:pt x="4006309" y="0"/>
                  <a:pt x="4114800" y="108491"/>
                  <a:pt x="4114800" y="242321"/>
                </a:cubicBezTo>
                <a:cubicBezTo>
                  <a:pt x="4114800" y="565406"/>
                  <a:pt x="4126089" y="1007023"/>
                  <a:pt x="4126089" y="1330108"/>
                </a:cubicBezTo>
                <a:cubicBezTo>
                  <a:pt x="4126089" y="1463938"/>
                  <a:pt x="4006309" y="1453896"/>
                  <a:pt x="3872479" y="1453896"/>
                </a:cubicBezTo>
                <a:lnTo>
                  <a:pt x="242321" y="1453896"/>
                </a:lnTo>
                <a:cubicBezTo>
                  <a:pt x="108491" y="1453896"/>
                  <a:pt x="0" y="1492160"/>
                  <a:pt x="0" y="1358330"/>
                </a:cubicBezTo>
                <a:lnTo>
                  <a:pt x="0" y="242321"/>
                </a:lnTo>
                <a:close/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ounded Rectangle 160">
            <a:extLst>
              <a:ext uri="{FF2B5EF4-FFF2-40B4-BE49-F238E27FC236}">
                <a16:creationId xmlns:a16="http://schemas.microsoft.com/office/drawing/2014/main" id="{31375783-DA4E-B25C-4122-E20EF46689D9}"/>
              </a:ext>
            </a:extLst>
          </p:cNvPr>
          <p:cNvSpPr/>
          <p:nvPr/>
        </p:nvSpPr>
        <p:spPr>
          <a:xfrm>
            <a:off x="18613059" y="6563142"/>
            <a:ext cx="6691310" cy="1458960"/>
          </a:xfrm>
          <a:custGeom>
            <a:avLst/>
            <a:gdLst>
              <a:gd name="connsiteX0" fmla="*/ 0 w 4114800"/>
              <a:gd name="connsiteY0" fmla="*/ 242321 h 1453896"/>
              <a:gd name="connsiteX1" fmla="*/ 242321 w 4114800"/>
              <a:gd name="connsiteY1" fmla="*/ 0 h 1453896"/>
              <a:gd name="connsiteX2" fmla="*/ 3872479 w 4114800"/>
              <a:gd name="connsiteY2" fmla="*/ 0 h 1453896"/>
              <a:gd name="connsiteX3" fmla="*/ 4114800 w 4114800"/>
              <a:gd name="connsiteY3" fmla="*/ 242321 h 1453896"/>
              <a:gd name="connsiteX4" fmla="*/ 4114800 w 4114800"/>
              <a:gd name="connsiteY4" fmla="*/ 1211575 h 1453896"/>
              <a:gd name="connsiteX5" fmla="*/ 3872479 w 4114800"/>
              <a:gd name="connsiteY5" fmla="*/ 1453896 h 1453896"/>
              <a:gd name="connsiteX6" fmla="*/ 242321 w 4114800"/>
              <a:gd name="connsiteY6" fmla="*/ 1453896 h 1453896"/>
              <a:gd name="connsiteX7" fmla="*/ 0 w 4114800"/>
              <a:gd name="connsiteY7" fmla="*/ 1211575 h 1453896"/>
              <a:gd name="connsiteX8" fmla="*/ 0 w 4114800"/>
              <a:gd name="connsiteY8" fmla="*/ 242321 h 1453896"/>
              <a:gd name="connsiteX0" fmla="*/ 0 w 4126089"/>
              <a:gd name="connsiteY0" fmla="*/ 242321 h 1454066"/>
              <a:gd name="connsiteX1" fmla="*/ 242321 w 4126089"/>
              <a:gd name="connsiteY1" fmla="*/ 0 h 1454066"/>
              <a:gd name="connsiteX2" fmla="*/ 3872479 w 4126089"/>
              <a:gd name="connsiteY2" fmla="*/ 0 h 1454066"/>
              <a:gd name="connsiteX3" fmla="*/ 4114800 w 4126089"/>
              <a:gd name="connsiteY3" fmla="*/ 242321 h 1454066"/>
              <a:gd name="connsiteX4" fmla="*/ 4126089 w 4126089"/>
              <a:gd name="connsiteY4" fmla="*/ 1330108 h 1454066"/>
              <a:gd name="connsiteX5" fmla="*/ 3872479 w 4126089"/>
              <a:gd name="connsiteY5" fmla="*/ 1453896 h 1454066"/>
              <a:gd name="connsiteX6" fmla="*/ 242321 w 4126089"/>
              <a:gd name="connsiteY6" fmla="*/ 1453896 h 1454066"/>
              <a:gd name="connsiteX7" fmla="*/ 0 w 4126089"/>
              <a:gd name="connsiteY7" fmla="*/ 1211575 h 1454066"/>
              <a:gd name="connsiteX8" fmla="*/ 0 w 4126089"/>
              <a:gd name="connsiteY8" fmla="*/ 242321 h 1454066"/>
              <a:gd name="connsiteX0" fmla="*/ 0 w 4126089"/>
              <a:gd name="connsiteY0" fmla="*/ 242321 h 1458960"/>
              <a:gd name="connsiteX1" fmla="*/ 242321 w 4126089"/>
              <a:gd name="connsiteY1" fmla="*/ 0 h 1458960"/>
              <a:gd name="connsiteX2" fmla="*/ 3872479 w 4126089"/>
              <a:gd name="connsiteY2" fmla="*/ 0 h 1458960"/>
              <a:gd name="connsiteX3" fmla="*/ 4114800 w 4126089"/>
              <a:gd name="connsiteY3" fmla="*/ 242321 h 1458960"/>
              <a:gd name="connsiteX4" fmla="*/ 4126089 w 4126089"/>
              <a:gd name="connsiteY4" fmla="*/ 1330108 h 1458960"/>
              <a:gd name="connsiteX5" fmla="*/ 3872479 w 4126089"/>
              <a:gd name="connsiteY5" fmla="*/ 1453896 h 1458960"/>
              <a:gd name="connsiteX6" fmla="*/ 242321 w 4126089"/>
              <a:gd name="connsiteY6" fmla="*/ 1453896 h 1458960"/>
              <a:gd name="connsiteX7" fmla="*/ 0 w 4126089"/>
              <a:gd name="connsiteY7" fmla="*/ 1358330 h 1458960"/>
              <a:gd name="connsiteX8" fmla="*/ 0 w 4126089"/>
              <a:gd name="connsiteY8" fmla="*/ 242321 h 145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6089" h="1458960">
                <a:moveTo>
                  <a:pt x="0" y="242321"/>
                </a:moveTo>
                <a:cubicBezTo>
                  <a:pt x="0" y="108491"/>
                  <a:pt x="108491" y="0"/>
                  <a:pt x="242321" y="0"/>
                </a:cubicBezTo>
                <a:lnTo>
                  <a:pt x="3872479" y="0"/>
                </a:lnTo>
                <a:cubicBezTo>
                  <a:pt x="4006309" y="0"/>
                  <a:pt x="4114800" y="108491"/>
                  <a:pt x="4114800" y="242321"/>
                </a:cubicBezTo>
                <a:cubicBezTo>
                  <a:pt x="4114800" y="565406"/>
                  <a:pt x="4126089" y="1007023"/>
                  <a:pt x="4126089" y="1330108"/>
                </a:cubicBezTo>
                <a:cubicBezTo>
                  <a:pt x="4126089" y="1463938"/>
                  <a:pt x="4006309" y="1453896"/>
                  <a:pt x="3872479" y="1453896"/>
                </a:cubicBezTo>
                <a:lnTo>
                  <a:pt x="242321" y="1453896"/>
                </a:lnTo>
                <a:cubicBezTo>
                  <a:pt x="108491" y="1453896"/>
                  <a:pt x="0" y="1492160"/>
                  <a:pt x="0" y="1358330"/>
                </a:cubicBezTo>
                <a:lnTo>
                  <a:pt x="0" y="242321"/>
                </a:lnTo>
                <a:close/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160">
            <a:extLst>
              <a:ext uri="{FF2B5EF4-FFF2-40B4-BE49-F238E27FC236}">
                <a16:creationId xmlns:a16="http://schemas.microsoft.com/office/drawing/2014/main" id="{53D8AFD1-472B-837C-FD25-6E7DDE58E1FC}"/>
              </a:ext>
            </a:extLst>
          </p:cNvPr>
          <p:cNvSpPr/>
          <p:nvPr/>
        </p:nvSpPr>
        <p:spPr>
          <a:xfrm>
            <a:off x="18628919" y="8703630"/>
            <a:ext cx="6691310" cy="1458960"/>
          </a:xfrm>
          <a:custGeom>
            <a:avLst/>
            <a:gdLst>
              <a:gd name="connsiteX0" fmla="*/ 0 w 4114800"/>
              <a:gd name="connsiteY0" fmla="*/ 242321 h 1453896"/>
              <a:gd name="connsiteX1" fmla="*/ 242321 w 4114800"/>
              <a:gd name="connsiteY1" fmla="*/ 0 h 1453896"/>
              <a:gd name="connsiteX2" fmla="*/ 3872479 w 4114800"/>
              <a:gd name="connsiteY2" fmla="*/ 0 h 1453896"/>
              <a:gd name="connsiteX3" fmla="*/ 4114800 w 4114800"/>
              <a:gd name="connsiteY3" fmla="*/ 242321 h 1453896"/>
              <a:gd name="connsiteX4" fmla="*/ 4114800 w 4114800"/>
              <a:gd name="connsiteY4" fmla="*/ 1211575 h 1453896"/>
              <a:gd name="connsiteX5" fmla="*/ 3872479 w 4114800"/>
              <a:gd name="connsiteY5" fmla="*/ 1453896 h 1453896"/>
              <a:gd name="connsiteX6" fmla="*/ 242321 w 4114800"/>
              <a:gd name="connsiteY6" fmla="*/ 1453896 h 1453896"/>
              <a:gd name="connsiteX7" fmla="*/ 0 w 4114800"/>
              <a:gd name="connsiteY7" fmla="*/ 1211575 h 1453896"/>
              <a:gd name="connsiteX8" fmla="*/ 0 w 4114800"/>
              <a:gd name="connsiteY8" fmla="*/ 242321 h 1453896"/>
              <a:gd name="connsiteX0" fmla="*/ 0 w 4126089"/>
              <a:gd name="connsiteY0" fmla="*/ 242321 h 1454066"/>
              <a:gd name="connsiteX1" fmla="*/ 242321 w 4126089"/>
              <a:gd name="connsiteY1" fmla="*/ 0 h 1454066"/>
              <a:gd name="connsiteX2" fmla="*/ 3872479 w 4126089"/>
              <a:gd name="connsiteY2" fmla="*/ 0 h 1454066"/>
              <a:gd name="connsiteX3" fmla="*/ 4114800 w 4126089"/>
              <a:gd name="connsiteY3" fmla="*/ 242321 h 1454066"/>
              <a:gd name="connsiteX4" fmla="*/ 4126089 w 4126089"/>
              <a:gd name="connsiteY4" fmla="*/ 1330108 h 1454066"/>
              <a:gd name="connsiteX5" fmla="*/ 3872479 w 4126089"/>
              <a:gd name="connsiteY5" fmla="*/ 1453896 h 1454066"/>
              <a:gd name="connsiteX6" fmla="*/ 242321 w 4126089"/>
              <a:gd name="connsiteY6" fmla="*/ 1453896 h 1454066"/>
              <a:gd name="connsiteX7" fmla="*/ 0 w 4126089"/>
              <a:gd name="connsiteY7" fmla="*/ 1211575 h 1454066"/>
              <a:gd name="connsiteX8" fmla="*/ 0 w 4126089"/>
              <a:gd name="connsiteY8" fmla="*/ 242321 h 1454066"/>
              <a:gd name="connsiteX0" fmla="*/ 0 w 4126089"/>
              <a:gd name="connsiteY0" fmla="*/ 242321 h 1458960"/>
              <a:gd name="connsiteX1" fmla="*/ 242321 w 4126089"/>
              <a:gd name="connsiteY1" fmla="*/ 0 h 1458960"/>
              <a:gd name="connsiteX2" fmla="*/ 3872479 w 4126089"/>
              <a:gd name="connsiteY2" fmla="*/ 0 h 1458960"/>
              <a:gd name="connsiteX3" fmla="*/ 4114800 w 4126089"/>
              <a:gd name="connsiteY3" fmla="*/ 242321 h 1458960"/>
              <a:gd name="connsiteX4" fmla="*/ 4126089 w 4126089"/>
              <a:gd name="connsiteY4" fmla="*/ 1330108 h 1458960"/>
              <a:gd name="connsiteX5" fmla="*/ 3872479 w 4126089"/>
              <a:gd name="connsiteY5" fmla="*/ 1453896 h 1458960"/>
              <a:gd name="connsiteX6" fmla="*/ 242321 w 4126089"/>
              <a:gd name="connsiteY6" fmla="*/ 1453896 h 1458960"/>
              <a:gd name="connsiteX7" fmla="*/ 0 w 4126089"/>
              <a:gd name="connsiteY7" fmla="*/ 1358330 h 1458960"/>
              <a:gd name="connsiteX8" fmla="*/ 0 w 4126089"/>
              <a:gd name="connsiteY8" fmla="*/ 242321 h 145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6089" h="1458960">
                <a:moveTo>
                  <a:pt x="0" y="242321"/>
                </a:moveTo>
                <a:cubicBezTo>
                  <a:pt x="0" y="108491"/>
                  <a:pt x="108491" y="0"/>
                  <a:pt x="242321" y="0"/>
                </a:cubicBezTo>
                <a:lnTo>
                  <a:pt x="3872479" y="0"/>
                </a:lnTo>
                <a:cubicBezTo>
                  <a:pt x="4006309" y="0"/>
                  <a:pt x="4114800" y="108491"/>
                  <a:pt x="4114800" y="242321"/>
                </a:cubicBezTo>
                <a:cubicBezTo>
                  <a:pt x="4114800" y="565406"/>
                  <a:pt x="4126089" y="1007023"/>
                  <a:pt x="4126089" y="1330108"/>
                </a:cubicBezTo>
                <a:cubicBezTo>
                  <a:pt x="4126089" y="1463938"/>
                  <a:pt x="4006309" y="1453896"/>
                  <a:pt x="3872479" y="1453896"/>
                </a:cubicBezTo>
                <a:lnTo>
                  <a:pt x="242321" y="1453896"/>
                </a:lnTo>
                <a:cubicBezTo>
                  <a:pt x="108491" y="1453896"/>
                  <a:pt x="0" y="1492160"/>
                  <a:pt x="0" y="1358330"/>
                </a:cubicBezTo>
                <a:lnTo>
                  <a:pt x="0" y="242321"/>
                </a:lnTo>
                <a:close/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le 160">
            <a:extLst>
              <a:ext uri="{FF2B5EF4-FFF2-40B4-BE49-F238E27FC236}">
                <a16:creationId xmlns:a16="http://schemas.microsoft.com/office/drawing/2014/main" id="{B04C4DF7-3BC6-33D4-A6D4-12CE9AC1C384}"/>
              </a:ext>
            </a:extLst>
          </p:cNvPr>
          <p:cNvSpPr/>
          <p:nvPr/>
        </p:nvSpPr>
        <p:spPr>
          <a:xfrm>
            <a:off x="10240190" y="8683879"/>
            <a:ext cx="6691310" cy="1458960"/>
          </a:xfrm>
          <a:custGeom>
            <a:avLst/>
            <a:gdLst>
              <a:gd name="connsiteX0" fmla="*/ 0 w 4114800"/>
              <a:gd name="connsiteY0" fmla="*/ 242321 h 1453896"/>
              <a:gd name="connsiteX1" fmla="*/ 242321 w 4114800"/>
              <a:gd name="connsiteY1" fmla="*/ 0 h 1453896"/>
              <a:gd name="connsiteX2" fmla="*/ 3872479 w 4114800"/>
              <a:gd name="connsiteY2" fmla="*/ 0 h 1453896"/>
              <a:gd name="connsiteX3" fmla="*/ 4114800 w 4114800"/>
              <a:gd name="connsiteY3" fmla="*/ 242321 h 1453896"/>
              <a:gd name="connsiteX4" fmla="*/ 4114800 w 4114800"/>
              <a:gd name="connsiteY4" fmla="*/ 1211575 h 1453896"/>
              <a:gd name="connsiteX5" fmla="*/ 3872479 w 4114800"/>
              <a:gd name="connsiteY5" fmla="*/ 1453896 h 1453896"/>
              <a:gd name="connsiteX6" fmla="*/ 242321 w 4114800"/>
              <a:gd name="connsiteY6" fmla="*/ 1453896 h 1453896"/>
              <a:gd name="connsiteX7" fmla="*/ 0 w 4114800"/>
              <a:gd name="connsiteY7" fmla="*/ 1211575 h 1453896"/>
              <a:gd name="connsiteX8" fmla="*/ 0 w 4114800"/>
              <a:gd name="connsiteY8" fmla="*/ 242321 h 1453896"/>
              <a:gd name="connsiteX0" fmla="*/ 0 w 4126089"/>
              <a:gd name="connsiteY0" fmla="*/ 242321 h 1454066"/>
              <a:gd name="connsiteX1" fmla="*/ 242321 w 4126089"/>
              <a:gd name="connsiteY1" fmla="*/ 0 h 1454066"/>
              <a:gd name="connsiteX2" fmla="*/ 3872479 w 4126089"/>
              <a:gd name="connsiteY2" fmla="*/ 0 h 1454066"/>
              <a:gd name="connsiteX3" fmla="*/ 4114800 w 4126089"/>
              <a:gd name="connsiteY3" fmla="*/ 242321 h 1454066"/>
              <a:gd name="connsiteX4" fmla="*/ 4126089 w 4126089"/>
              <a:gd name="connsiteY4" fmla="*/ 1330108 h 1454066"/>
              <a:gd name="connsiteX5" fmla="*/ 3872479 w 4126089"/>
              <a:gd name="connsiteY5" fmla="*/ 1453896 h 1454066"/>
              <a:gd name="connsiteX6" fmla="*/ 242321 w 4126089"/>
              <a:gd name="connsiteY6" fmla="*/ 1453896 h 1454066"/>
              <a:gd name="connsiteX7" fmla="*/ 0 w 4126089"/>
              <a:gd name="connsiteY7" fmla="*/ 1211575 h 1454066"/>
              <a:gd name="connsiteX8" fmla="*/ 0 w 4126089"/>
              <a:gd name="connsiteY8" fmla="*/ 242321 h 1454066"/>
              <a:gd name="connsiteX0" fmla="*/ 0 w 4126089"/>
              <a:gd name="connsiteY0" fmla="*/ 242321 h 1458960"/>
              <a:gd name="connsiteX1" fmla="*/ 242321 w 4126089"/>
              <a:gd name="connsiteY1" fmla="*/ 0 h 1458960"/>
              <a:gd name="connsiteX2" fmla="*/ 3872479 w 4126089"/>
              <a:gd name="connsiteY2" fmla="*/ 0 h 1458960"/>
              <a:gd name="connsiteX3" fmla="*/ 4114800 w 4126089"/>
              <a:gd name="connsiteY3" fmla="*/ 242321 h 1458960"/>
              <a:gd name="connsiteX4" fmla="*/ 4126089 w 4126089"/>
              <a:gd name="connsiteY4" fmla="*/ 1330108 h 1458960"/>
              <a:gd name="connsiteX5" fmla="*/ 3872479 w 4126089"/>
              <a:gd name="connsiteY5" fmla="*/ 1453896 h 1458960"/>
              <a:gd name="connsiteX6" fmla="*/ 242321 w 4126089"/>
              <a:gd name="connsiteY6" fmla="*/ 1453896 h 1458960"/>
              <a:gd name="connsiteX7" fmla="*/ 0 w 4126089"/>
              <a:gd name="connsiteY7" fmla="*/ 1358330 h 1458960"/>
              <a:gd name="connsiteX8" fmla="*/ 0 w 4126089"/>
              <a:gd name="connsiteY8" fmla="*/ 242321 h 145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6089" h="1458960">
                <a:moveTo>
                  <a:pt x="0" y="242321"/>
                </a:moveTo>
                <a:cubicBezTo>
                  <a:pt x="0" y="108491"/>
                  <a:pt x="108491" y="0"/>
                  <a:pt x="242321" y="0"/>
                </a:cubicBezTo>
                <a:lnTo>
                  <a:pt x="3872479" y="0"/>
                </a:lnTo>
                <a:cubicBezTo>
                  <a:pt x="4006309" y="0"/>
                  <a:pt x="4114800" y="108491"/>
                  <a:pt x="4114800" y="242321"/>
                </a:cubicBezTo>
                <a:cubicBezTo>
                  <a:pt x="4114800" y="565406"/>
                  <a:pt x="4126089" y="1007023"/>
                  <a:pt x="4126089" y="1330108"/>
                </a:cubicBezTo>
                <a:cubicBezTo>
                  <a:pt x="4126089" y="1463938"/>
                  <a:pt x="4006309" y="1453896"/>
                  <a:pt x="3872479" y="1453896"/>
                </a:cubicBezTo>
                <a:lnTo>
                  <a:pt x="242321" y="1453896"/>
                </a:lnTo>
                <a:cubicBezTo>
                  <a:pt x="108491" y="1453896"/>
                  <a:pt x="0" y="1492160"/>
                  <a:pt x="0" y="1358330"/>
                </a:cubicBezTo>
                <a:lnTo>
                  <a:pt x="0" y="242321"/>
                </a:lnTo>
                <a:close/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160">
            <a:extLst>
              <a:ext uri="{FF2B5EF4-FFF2-40B4-BE49-F238E27FC236}">
                <a16:creationId xmlns:a16="http://schemas.microsoft.com/office/drawing/2014/main" id="{3D4B4F73-8998-A184-66F7-70269BD8B98C}"/>
              </a:ext>
            </a:extLst>
          </p:cNvPr>
          <p:cNvSpPr/>
          <p:nvPr/>
        </p:nvSpPr>
        <p:spPr>
          <a:xfrm>
            <a:off x="728803" y="8654923"/>
            <a:ext cx="6691310" cy="1458960"/>
          </a:xfrm>
          <a:custGeom>
            <a:avLst/>
            <a:gdLst>
              <a:gd name="connsiteX0" fmla="*/ 0 w 4114800"/>
              <a:gd name="connsiteY0" fmla="*/ 242321 h 1453896"/>
              <a:gd name="connsiteX1" fmla="*/ 242321 w 4114800"/>
              <a:gd name="connsiteY1" fmla="*/ 0 h 1453896"/>
              <a:gd name="connsiteX2" fmla="*/ 3872479 w 4114800"/>
              <a:gd name="connsiteY2" fmla="*/ 0 h 1453896"/>
              <a:gd name="connsiteX3" fmla="*/ 4114800 w 4114800"/>
              <a:gd name="connsiteY3" fmla="*/ 242321 h 1453896"/>
              <a:gd name="connsiteX4" fmla="*/ 4114800 w 4114800"/>
              <a:gd name="connsiteY4" fmla="*/ 1211575 h 1453896"/>
              <a:gd name="connsiteX5" fmla="*/ 3872479 w 4114800"/>
              <a:gd name="connsiteY5" fmla="*/ 1453896 h 1453896"/>
              <a:gd name="connsiteX6" fmla="*/ 242321 w 4114800"/>
              <a:gd name="connsiteY6" fmla="*/ 1453896 h 1453896"/>
              <a:gd name="connsiteX7" fmla="*/ 0 w 4114800"/>
              <a:gd name="connsiteY7" fmla="*/ 1211575 h 1453896"/>
              <a:gd name="connsiteX8" fmla="*/ 0 w 4114800"/>
              <a:gd name="connsiteY8" fmla="*/ 242321 h 1453896"/>
              <a:gd name="connsiteX0" fmla="*/ 0 w 4126089"/>
              <a:gd name="connsiteY0" fmla="*/ 242321 h 1454066"/>
              <a:gd name="connsiteX1" fmla="*/ 242321 w 4126089"/>
              <a:gd name="connsiteY1" fmla="*/ 0 h 1454066"/>
              <a:gd name="connsiteX2" fmla="*/ 3872479 w 4126089"/>
              <a:gd name="connsiteY2" fmla="*/ 0 h 1454066"/>
              <a:gd name="connsiteX3" fmla="*/ 4114800 w 4126089"/>
              <a:gd name="connsiteY3" fmla="*/ 242321 h 1454066"/>
              <a:gd name="connsiteX4" fmla="*/ 4126089 w 4126089"/>
              <a:gd name="connsiteY4" fmla="*/ 1330108 h 1454066"/>
              <a:gd name="connsiteX5" fmla="*/ 3872479 w 4126089"/>
              <a:gd name="connsiteY5" fmla="*/ 1453896 h 1454066"/>
              <a:gd name="connsiteX6" fmla="*/ 242321 w 4126089"/>
              <a:gd name="connsiteY6" fmla="*/ 1453896 h 1454066"/>
              <a:gd name="connsiteX7" fmla="*/ 0 w 4126089"/>
              <a:gd name="connsiteY7" fmla="*/ 1211575 h 1454066"/>
              <a:gd name="connsiteX8" fmla="*/ 0 w 4126089"/>
              <a:gd name="connsiteY8" fmla="*/ 242321 h 1454066"/>
              <a:gd name="connsiteX0" fmla="*/ 0 w 4126089"/>
              <a:gd name="connsiteY0" fmla="*/ 242321 h 1458960"/>
              <a:gd name="connsiteX1" fmla="*/ 242321 w 4126089"/>
              <a:gd name="connsiteY1" fmla="*/ 0 h 1458960"/>
              <a:gd name="connsiteX2" fmla="*/ 3872479 w 4126089"/>
              <a:gd name="connsiteY2" fmla="*/ 0 h 1458960"/>
              <a:gd name="connsiteX3" fmla="*/ 4114800 w 4126089"/>
              <a:gd name="connsiteY3" fmla="*/ 242321 h 1458960"/>
              <a:gd name="connsiteX4" fmla="*/ 4126089 w 4126089"/>
              <a:gd name="connsiteY4" fmla="*/ 1330108 h 1458960"/>
              <a:gd name="connsiteX5" fmla="*/ 3872479 w 4126089"/>
              <a:gd name="connsiteY5" fmla="*/ 1453896 h 1458960"/>
              <a:gd name="connsiteX6" fmla="*/ 242321 w 4126089"/>
              <a:gd name="connsiteY6" fmla="*/ 1453896 h 1458960"/>
              <a:gd name="connsiteX7" fmla="*/ 0 w 4126089"/>
              <a:gd name="connsiteY7" fmla="*/ 1358330 h 1458960"/>
              <a:gd name="connsiteX8" fmla="*/ 0 w 4126089"/>
              <a:gd name="connsiteY8" fmla="*/ 242321 h 1458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6089" h="1458960">
                <a:moveTo>
                  <a:pt x="0" y="242321"/>
                </a:moveTo>
                <a:cubicBezTo>
                  <a:pt x="0" y="108491"/>
                  <a:pt x="108491" y="0"/>
                  <a:pt x="242321" y="0"/>
                </a:cubicBezTo>
                <a:lnTo>
                  <a:pt x="3872479" y="0"/>
                </a:lnTo>
                <a:cubicBezTo>
                  <a:pt x="4006309" y="0"/>
                  <a:pt x="4114800" y="108491"/>
                  <a:pt x="4114800" y="242321"/>
                </a:cubicBezTo>
                <a:cubicBezTo>
                  <a:pt x="4114800" y="565406"/>
                  <a:pt x="4126089" y="1007023"/>
                  <a:pt x="4126089" y="1330108"/>
                </a:cubicBezTo>
                <a:cubicBezTo>
                  <a:pt x="4126089" y="1463938"/>
                  <a:pt x="4006309" y="1453896"/>
                  <a:pt x="3872479" y="1453896"/>
                </a:cubicBezTo>
                <a:lnTo>
                  <a:pt x="242321" y="1453896"/>
                </a:lnTo>
                <a:cubicBezTo>
                  <a:pt x="108491" y="1453896"/>
                  <a:pt x="0" y="1492160"/>
                  <a:pt x="0" y="1358330"/>
                </a:cubicBezTo>
                <a:lnTo>
                  <a:pt x="0" y="242321"/>
                </a:lnTo>
                <a:close/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ADA42E6-1E78-F6DB-9A7B-D0C1E48A0BDB}"/>
              </a:ext>
            </a:extLst>
          </p:cNvPr>
          <p:cNvCxnSpPr>
            <a:cxnSpLocks/>
          </p:cNvCxnSpPr>
          <p:nvPr/>
        </p:nvCxnSpPr>
        <p:spPr bwMode="auto">
          <a:xfrm>
            <a:off x="13809640" y="5982987"/>
            <a:ext cx="0" cy="54864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11026A6-2771-80FB-2F1F-C120C0806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996827"/>
              </p:ext>
            </p:extLst>
          </p:nvPr>
        </p:nvGraphicFramePr>
        <p:xfrm>
          <a:off x="1" y="13637530"/>
          <a:ext cx="714992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7733">
                  <a:extLst>
                    <a:ext uri="{9D8B030D-6E8A-4147-A177-3AD203B41FA5}">
                      <a16:colId xmlns:a16="http://schemas.microsoft.com/office/drawing/2014/main" val="228771411"/>
                    </a:ext>
                  </a:extLst>
                </a:gridCol>
                <a:gridCol w="470589">
                  <a:extLst>
                    <a:ext uri="{9D8B030D-6E8A-4147-A177-3AD203B41FA5}">
                      <a16:colId xmlns:a16="http://schemas.microsoft.com/office/drawing/2014/main" val="2948560317"/>
                    </a:ext>
                  </a:extLst>
                </a:gridCol>
                <a:gridCol w="4421599">
                  <a:extLst>
                    <a:ext uri="{9D8B030D-6E8A-4147-A177-3AD203B41FA5}">
                      <a16:colId xmlns:a16="http://schemas.microsoft.com/office/drawing/2014/main" val="1248625941"/>
                    </a:ext>
                  </a:extLst>
                </a:gridCol>
              </a:tblGrid>
              <a:tr h="235756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log10(X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BP3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) 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=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defTabSz="3298825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β</a:t>
                      </a:r>
                      <a:r>
                        <a:rPr kumimoji="0" lang="en-US" altLang="en-US" sz="2400" b="1" i="0" u="none" strike="noStrike" kern="0" cap="none" spc="0" normalizeH="0" baseline="-25000" noProof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Race,k_body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Age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cycle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BMI</a:t>
                      </a:r>
                    </a:p>
                    <a:p>
                      <a:pPr marL="0" marR="0" lvl="0" indent="0" defTabSz="3298825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creatinine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 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PIR 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0</a:t>
                      </a:r>
                      <a:endParaRPr kumimoji="0" lang="en-US" alt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21742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C78532C-F08A-4FF8-9025-44D8B34F7A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914899"/>
              </p:ext>
            </p:extLst>
          </p:nvPr>
        </p:nvGraphicFramePr>
        <p:xfrm>
          <a:off x="318292" y="12541776"/>
          <a:ext cx="733734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067">
                  <a:extLst>
                    <a:ext uri="{9D8B030D-6E8A-4147-A177-3AD203B41FA5}">
                      <a16:colId xmlns:a16="http://schemas.microsoft.com/office/drawing/2014/main" val="228771411"/>
                    </a:ext>
                  </a:extLst>
                </a:gridCol>
                <a:gridCol w="498763">
                  <a:extLst>
                    <a:ext uri="{9D8B030D-6E8A-4147-A177-3AD203B41FA5}">
                      <a16:colId xmlns:a16="http://schemas.microsoft.com/office/drawing/2014/main" val="2948560317"/>
                    </a:ext>
                  </a:extLst>
                </a:gridCol>
                <a:gridCol w="4904510">
                  <a:extLst>
                    <a:ext uri="{9D8B030D-6E8A-4147-A177-3AD203B41FA5}">
                      <a16:colId xmlns:a16="http://schemas.microsoft.com/office/drawing/2014/main" val="1248625941"/>
                    </a:ext>
                  </a:extLst>
                </a:gridCol>
              </a:tblGrid>
              <a:tr h="235756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log10(X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BP3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) 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=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defTabSz="3298825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β</a:t>
                      </a:r>
                      <a:r>
                        <a:rPr kumimoji="0" lang="en-US" altLang="en-US" sz="2400" b="1" i="0" u="none" strike="noStrike" kern="0" cap="none" spc="0" normalizeH="0" baseline="-25000" noProof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Race,k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</a:t>
                      </a:r>
                      <a:r>
                        <a:rPr kumimoji="0" lang="en-US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β</a:t>
                      </a:r>
                      <a:r>
                        <a:rPr kumimoji="0" lang="en-US" altLang="en-US" sz="2400" b="1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Body 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Age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cycle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BMI</a:t>
                      </a:r>
                    </a:p>
                    <a:p>
                      <a:pPr marL="0" marR="0" lvl="0" indent="0" defTabSz="3298825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creatinine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 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PIR 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0</a:t>
                      </a:r>
                      <a:endParaRPr kumimoji="0" lang="en-US" alt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21742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59F9D22-77AD-1FD3-09B5-AA7AC2B65E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250960"/>
              </p:ext>
            </p:extLst>
          </p:nvPr>
        </p:nvGraphicFramePr>
        <p:xfrm>
          <a:off x="9220967" y="13633627"/>
          <a:ext cx="7368688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6813">
                  <a:extLst>
                    <a:ext uri="{9D8B030D-6E8A-4147-A177-3AD203B41FA5}">
                      <a16:colId xmlns:a16="http://schemas.microsoft.com/office/drawing/2014/main" val="228771411"/>
                    </a:ext>
                  </a:extLst>
                </a:gridCol>
                <a:gridCol w="484988">
                  <a:extLst>
                    <a:ext uri="{9D8B030D-6E8A-4147-A177-3AD203B41FA5}">
                      <a16:colId xmlns:a16="http://schemas.microsoft.com/office/drawing/2014/main" val="2948560317"/>
                    </a:ext>
                  </a:extLst>
                </a:gridCol>
                <a:gridCol w="4556887">
                  <a:extLst>
                    <a:ext uri="{9D8B030D-6E8A-4147-A177-3AD203B41FA5}">
                      <a16:colId xmlns:a16="http://schemas.microsoft.com/office/drawing/2014/main" val="1248625941"/>
                    </a:ext>
                  </a:extLst>
                </a:gridCol>
              </a:tblGrid>
              <a:tr h="235756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log10(X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BP3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) 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=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defTabSz="3298825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β</a:t>
                      </a:r>
                      <a:r>
                        <a:rPr kumimoji="0" lang="en-US" altLang="en-US" sz="2400" b="1" i="0" u="none" strike="noStrike" kern="0" cap="none" spc="0" normalizeH="0" baseline="-25000" noProof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Race,k_Body</a:t>
                      </a:r>
                      <a:r>
                        <a:rPr kumimoji="0" lang="en-US" altLang="en-US" sz="2400" b="1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Age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cycle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BMI </a:t>
                      </a:r>
                    </a:p>
                    <a:p>
                      <a:pPr marL="0" marR="0" lvl="0" indent="0" defTabSz="3298825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creatinine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 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PIR 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</a:t>
                      </a:r>
                      <a:r>
                        <a:rPr kumimoji="0" lang="en-US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β</a:t>
                      </a:r>
                      <a:r>
                        <a:rPr kumimoji="0" lang="en-US" altLang="en-US" sz="2400" b="1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sunscreen 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0</a:t>
                      </a:r>
                      <a:endParaRPr kumimoji="0" lang="en-US" alt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217427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5F1CDE9-42F7-58CB-85CE-381136BDC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964713"/>
              </p:ext>
            </p:extLst>
          </p:nvPr>
        </p:nvGraphicFramePr>
        <p:xfrm>
          <a:off x="9079222" y="12568871"/>
          <a:ext cx="7773903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4768">
                  <a:extLst>
                    <a:ext uri="{9D8B030D-6E8A-4147-A177-3AD203B41FA5}">
                      <a16:colId xmlns:a16="http://schemas.microsoft.com/office/drawing/2014/main" val="228771411"/>
                    </a:ext>
                  </a:extLst>
                </a:gridCol>
                <a:gridCol w="511658">
                  <a:extLst>
                    <a:ext uri="{9D8B030D-6E8A-4147-A177-3AD203B41FA5}">
                      <a16:colId xmlns:a16="http://schemas.microsoft.com/office/drawing/2014/main" val="2948560317"/>
                    </a:ext>
                  </a:extLst>
                </a:gridCol>
                <a:gridCol w="4807477">
                  <a:extLst>
                    <a:ext uri="{9D8B030D-6E8A-4147-A177-3AD203B41FA5}">
                      <a16:colId xmlns:a16="http://schemas.microsoft.com/office/drawing/2014/main" val="1248625941"/>
                    </a:ext>
                  </a:extLst>
                </a:gridCol>
              </a:tblGrid>
              <a:tr h="235756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log10(X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BP3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) 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=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defTabSz="3298825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β</a:t>
                      </a:r>
                      <a:r>
                        <a:rPr kumimoji="0" lang="en-US" altLang="en-US" sz="2400" b="1" i="0" u="none" strike="noStrike" kern="0" cap="none" spc="0" normalizeH="0" baseline="-25000" noProof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Race,k</a:t>
                      </a:r>
                      <a:r>
                        <a:rPr kumimoji="0" lang="en-US" altLang="en-US" sz="2400" b="1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</a:t>
                      </a:r>
                      <a:r>
                        <a:rPr kumimoji="0" lang="en-US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β</a:t>
                      </a:r>
                      <a:r>
                        <a:rPr kumimoji="0" lang="en-US" altLang="en-US" sz="2400" b="1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Body 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Age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cycle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BMI </a:t>
                      </a:r>
                    </a:p>
                    <a:p>
                      <a:pPr marL="0" marR="0" lvl="0" indent="0" defTabSz="3298825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creatinine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 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PIR 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</a:t>
                      </a:r>
                      <a:r>
                        <a:rPr kumimoji="0" lang="en-US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β</a:t>
                      </a:r>
                      <a:r>
                        <a:rPr kumimoji="0" lang="en-US" altLang="en-US" sz="2400" b="1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sunscreen 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0</a:t>
                      </a:r>
                      <a:endParaRPr kumimoji="0" lang="en-US" alt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21742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6791B0B-776C-08A6-307A-CD176486F9D4}"/>
              </a:ext>
            </a:extLst>
          </p:cNvPr>
          <p:cNvSpPr txBox="1"/>
          <p:nvPr/>
        </p:nvSpPr>
        <p:spPr>
          <a:xfrm>
            <a:off x="21901237" y="19571798"/>
            <a:ext cx="1942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% Difference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B5AA0FE-01EF-5AF3-26A6-7601390E5379}"/>
              </a:ext>
            </a:extLst>
          </p:cNvPr>
          <p:cNvCxnSpPr>
            <a:cxnSpLocks/>
          </p:cNvCxnSpPr>
          <p:nvPr/>
        </p:nvCxnSpPr>
        <p:spPr bwMode="auto">
          <a:xfrm>
            <a:off x="4321392" y="5859912"/>
            <a:ext cx="17830800" cy="0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EAEE839-22C7-39D5-9727-2D29742ACA94}"/>
              </a:ext>
            </a:extLst>
          </p:cNvPr>
          <p:cNvCxnSpPr>
            <a:cxnSpLocks/>
          </p:cNvCxnSpPr>
          <p:nvPr/>
        </p:nvCxnSpPr>
        <p:spPr bwMode="auto">
          <a:xfrm flipV="1">
            <a:off x="3446697" y="1513791"/>
            <a:ext cx="13758128" cy="3074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914192F-004D-077D-E4AB-40E484128B56}"/>
              </a:ext>
            </a:extLst>
          </p:cNvPr>
          <p:cNvSpPr/>
          <p:nvPr/>
        </p:nvSpPr>
        <p:spPr bwMode="auto">
          <a:xfrm>
            <a:off x="10540823" y="228600"/>
            <a:ext cx="6691310" cy="548640"/>
          </a:xfrm>
          <a:prstGeom prst="roundRect">
            <a:avLst/>
          </a:prstGeom>
          <a:solidFill>
            <a:srgbClr val="000066"/>
          </a:solidFill>
          <a:ln w="25400" cap="flat" cmpd="sng" algn="ctr">
            <a:solidFill>
              <a:srgbClr val="2D2D8A"/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3200" b="1" kern="0" dirty="0">
                <a:solidFill>
                  <a:srgbClr val="F0A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Compilation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35FAF56-5B3F-6DD5-F175-55C135E526FF}"/>
              </a:ext>
            </a:extLst>
          </p:cNvPr>
          <p:cNvSpPr/>
          <p:nvPr/>
        </p:nvSpPr>
        <p:spPr bwMode="auto">
          <a:xfrm>
            <a:off x="736772" y="8524803"/>
            <a:ext cx="6673003" cy="457200"/>
          </a:xfrm>
          <a:prstGeom prst="roundRect">
            <a:avLst/>
          </a:prstGeom>
          <a:solidFill>
            <a:srgbClr val="000066"/>
          </a:solidFill>
          <a:ln w="25400" cap="flat" cmpd="sng" algn="ctr">
            <a:solidFill>
              <a:srgbClr val="2D2D8A"/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600" b="1" kern="0" dirty="0">
                <a:solidFill>
                  <a:srgbClr val="F0A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Differences in BP3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FCEFAFB-7AFF-8ABC-1215-CE9718CBA9EE}"/>
              </a:ext>
            </a:extLst>
          </p:cNvPr>
          <p:cNvSpPr/>
          <p:nvPr/>
        </p:nvSpPr>
        <p:spPr bwMode="auto">
          <a:xfrm>
            <a:off x="10250300" y="8529292"/>
            <a:ext cx="6658174" cy="457200"/>
          </a:xfrm>
          <a:prstGeom prst="roundRect">
            <a:avLst/>
          </a:prstGeom>
          <a:solidFill>
            <a:srgbClr val="000066"/>
          </a:solidFill>
          <a:ln w="25400" cap="flat" cmpd="sng" algn="ctr">
            <a:solidFill>
              <a:srgbClr val="2D2D8A"/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600" b="1" kern="0" dirty="0">
                <a:solidFill>
                  <a:srgbClr val="F0A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Adjustment for Sunscreen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C5C4E6-0838-5781-3148-AE8CE175B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889" y="8952229"/>
            <a:ext cx="682015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6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6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5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Characterize the differences in biomarker levels of BP3 by race and body dissatisfaction.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33A8D50-345E-E475-A175-EBD8F2BA5252}"/>
              </a:ext>
            </a:extLst>
          </p:cNvPr>
          <p:cNvCxnSpPr/>
          <p:nvPr/>
        </p:nvCxnSpPr>
        <p:spPr bwMode="auto">
          <a:xfrm>
            <a:off x="13897642" y="784507"/>
            <a:ext cx="1588" cy="45720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0535336-D464-97F3-4D22-61CB9D9B97A7}"/>
              </a:ext>
            </a:extLst>
          </p:cNvPr>
          <p:cNvCxnSpPr>
            <a:cxnSpLocks/>
          </p:cNvCxnSpPr>
          <p:nvPr/>
        </p:nvCxnSpPr>
        <p:spPr bwMode="auto">
          <a:xfrm>
            <a:off x="13803067" y="4782207"/>
            <a:ext cx="1" cy="82296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22" name="Straight Connector 63">
            <a:extLst>
              <a:ext uri="{FF2B5EF4-FFF2-40B4-BE49-F238E27FC236}">
                <a16:creationId xmlns:a16="http://schemas.microsoft.com/office/drawing/2014/main" id="{289B2FE3-00E3-76DC-D203-A32786753C9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539891" y="5157454"/>
            <a:ext cx="777875" cy="77946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sp>
        <p:nvSpPr>
          <p:cNvPr id="23" name="TextBox 51">
            <a:extLst>
              <a:ext uri="{FF2B5EF4-FFF2-40B4-BE49-F238E27FC236}">
                <a16:creationId xmlns:a16="http://schemas.microsoft.com/office/drawing/2014/main" id="{2033DA68-5355-B84D-2727-632BBC311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7764" y="299051"/>
            <a:ext cx="40282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1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0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N = 135,310 participants</a:t>
            </a:r>
          </a:p>
        </p:txBody>
      </p:sp>
      <p:sp>
        <p:nvSpPr>
          <p:cNvPr id="24" name="TextBox 51">
            <a:extLst>
              <a:ext uri="{FF2B5EF4-FFF2-40B4-BE49-F238E27FC236}">
                <a16:creationId xmlns:a16="http://schemas.microsoft.com/office/drawing/2014/main" id="{C50BFB7E-7F02-FB65-45CD-B4BD7C921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63236" y="4898062"/>
            <a:ext cx="41524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1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0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N = 3,072 participants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C90DB2E-04A1-EE4A-5599-90B7EE3F309F}"/>
              </a:ext>
            </a:extLst>
          </p:cNvPr>
          <p:cNvSpPr/>
          <p:nvPr/>
        </p:nvSpPr>
        <p:spPr bwMode="auto">
          <a:xfrm>
            <a:off x="10540823" y="1183498"/>
            <a:ext cx="6691310" cy="548640"/>
          </a:xfrm>
          <a:prstGeom prst="roundRect">
            <a:avLst/>
          </a:prstGeom>
          <a:solidFill>
            <a:srgbClr val="000066"/>
          </a:solidFill>
          <a:ln w="25400" cap="flat" cmpd="sng" algn="ctr">
            <a:solidFill>
              <a:srgbClr val="2D2D8A"/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3200" b="1" kern="0" dirty="0">
                <a:solidFill>
                  <a:srgbClr val="F0A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Cleaning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F74B7AD-75BA-5A5F-F127-0BB7E123B3C9}"/>
              </a:ext>
            </a:extLst>
          </p:cNvPr>
          <p:cNvSpPr/>
          <p:nvPr/>
        </p:nvSpPr>
        <p:spPr bwMode="auto">
          <a:xfrm>
            <a:off x="10453816" y="5573160"/>
            <a:ext cx="6691310" cy="548640"/>
          </a:xfrm>
          <a:prstGeom prst="roundRect">
            <a:avLst/>
          </a:prstGeom>
          <a:solidFill>
            <a:srgbClr val="000066"/>
          </a:solidFill>
          <a:ln w="25400" cap="flat" cmpd="sng" algn="ctr">
            <a:solidFill>
              <a:srgbClr val="2D2D8A"/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3200" b="1" kern="0" dirty="0">
                <a:solidFill>
                  <a:srgbClr val="F0A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Statistical Analyses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AAD4311-7906-4B18-9C34-52DD7445AAC4}"/>
              </a:ext>
            </a:extLst>
          </p:cNvPr>
          <p:cNvCxnSpPr/>
          <p:nvPr/>
        </p:nvCxnSpPr>
        <p:spPr bwMode="auto">
          <a:xfrm>
            <a:off x="4343608" y="5859912"/>
            <a:ext cx="0" cy="64008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5DA7392-A178-DFB5-98F3-2E11A661ECFF}"/>
              </a:ext>
            </a:extLst>
          </p:cNvPr>
          <p:cNvCxnSpPr/>
          <p:nvPr/>
        </p:nvCxnSpPr>
        <p:spPr bwMode="auto">
          <a:xfrm>
            <a:off x="3475593" y="1507870"/>
            <a:ext cx="1588" cy="64008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42719E9-A128-5BEB-0A1D-DBCC0F0B3D47}"/>
              </a:ext>
            </a:extLst>
          </p:cNvPr>
          <p:cNvCxnSpPr/>
          <p:nvPr/>
        </p:nvCxnSpPr>
        <p:spPr bwMode="auto">
          <a:xfrm flipH="1">
            <a:off x="22895383" y="4436969"/>
            <a:ext cx="0" cy="365760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0D37AB7-D36B-8002-84A1-B2C011CA2F28}"/>
              </a:ext>
            </a:extLst>
          </p:cNvPr>
          <p:cNvCxnSpPr>
            <a:cxnSpLocks/>
          </p:cNvCxnSpPr>
          <p:nvPr/>
        </p:nvCxnSpPr>
        <p:spPr bwMode="auto">
          <a:xfrm flipV="1">
            <a:off x="13786771" y="4804878"/>
            <a:ext cx="9144000" cy="0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E66FE30F-768C-206B-9F59-98DA6BA17683}"/>
              </a:ext>
            </a:extLst>
          </p:cNvPr>
          <p:cNvSpPr/>
          <p:nvPr/>
        </p:nvSpPr>
        <p:spPr bwMode="auto">
          <a:xfrm>
            <a:off x="18640265" y="8548913"/>
            <a:ext cx="6673003" cy="457200"/>
          </a:xfrm>
          <a:prstGeom prst="roundRect">
            <a:avLst/>
          </a:prstGeom>
          <a:solidFill>
            <a:srgbClr val="000066"/>
          </a:solidFill>
          <a:ln w="25400" cap="flat" cmpd="sng" algn="ctr">
            <a:solidFill>
              <a:srgbClr val="2D2D8A"/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600" b="1" kern="0" dirty="0">
                <a:solidFill>
                  <a:srgbClr val="F0A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Variance of BP3 Explained</a:t>
            </a:r>
          </a:p>
        </p:txBody>
      </p:sp>
      <p:sp>
        <p:nvSpPr>
          <p:cNvPr id="32" name="TextBox 18">
            <a:extLst>
              <a:ext uri="{FF2B5EF4-FFF2-40B4-BE49-F238E27FC236}">
                <a16:creationId xmlns:a16="http://schemas.microsoft.com/office/drawing/2014/main" id="{4F458423-5EEC-FED0-A696-796FC19E2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0004" y="8988491"/>
            <a:ext cx="667300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6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6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5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Quantify the racial differences in the contribution of sunscreen usage in explaining BP3 levels.</a:t>
            </a:r>
          </a:p>
        </p:txBody>
      </p:sp>
      <p:sp>
        <p:nvSpPr>
          <p:cNvPr id="33" name="TextBox 18">
            <a:extLst>
              <a:ext uri="{FF2B5EF4-FFF2-40B4-BE49-F238E27FC236}">
                <a16:creationId xmlns:a16="http://schemas.microsoft.com/office/drawing/2014/main" id="{3A2BF998-33E9-6A35-0569-B3D5EA2A0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8649" y="8982402"/>
            <a:ext cx="667300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6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6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5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kern="0" dirty="0">
                <a:cs typeface="Arial" panose="020B0604020202020204" pitchFamily="34" charset="0"/>
              </a:rPr>
              <a:t>Evaluate how racial differences in BP3 change when accounting for sunscreen usage.</a:t>
            </a:r>
          </a:p>
        </p:txBody>
      </p:sp>
      <p:sp>
        <p:nvSpPr>
          <p:cNvPr id="34" name="TextBox 18">
            <a:extLst>
              <a:ext uri="{FF2B5EF4-FFF2-40B4-BE49-F238E27FC236}">
                <a16:creationId xmlns:a16="http://schemas.microsoft.com/office/drawing/2014/main" id="{A8F9E90E-BD11-411A-0B0D-ABB1BDCBA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23933" y="14790061"/>
            <a:ext cx="502058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6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6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5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Extract R</a:t>
            </a:r>
            <a:r>
              <a:rPr lang="en-US" altLang="en-US" sz="2400" b="1" kern="0" baseline="30000" dirty="0">
                <a:cs typeface="Arial" panose="020B0604020202020204" pitchFamily="34" charset="0"/>
              </a:rPr>
              <a:t>2 </a:t>
            </a:r>
            <a:r>
              <a:rPr lang="en-US" altLang="en-US" sz="2400" b="1" kern="0" dirty="0">
                <a:cs typeface="Arial" panose="020B0604020202020204" pitchFamily="34" charset="0"/>
              </a:rPr>
              <a:t>from models (1)-(2), (4)-(5), and (7)-(8) and calculate differences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314AB3D-9C62-ED7B-A5B8-D4D28F75F32B}"/>
              </a:ext>
            </a:extLst>
          </p:cNvPr>
          <p:cNvCxnSpPr/>
          <p:nvPr/>
        </p:nvCxnSpPr>
        <p:spPr bwMode="auto">
          <a:xfrm>
            <a:off x="22114774" y="5875092"/>
            <a:ext cx="0" cy="64008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sp>
        <p:nvSpPr>
          <p:cNvPr id="36" name="TextBox 50">
            <a:extLst>
              <a:ext uri="{FF2B5EF4-FFF2-40B4-BE49-F238E27FC236}">
                <a16:creationId xmlns:a16="http://schemas.microsoft.com/office/drawing/2014/main" id="{4CE660CA-0033-5CC9-7987-282296BE7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9957" y="2817427"/>
            <a:ext cx="250512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6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6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5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Exclude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male participants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N = 28,314</a:t>
            </a:r>
          </a:p>
        </p:txBody>
      </p:sp>
      <p:sp>
        <p:nvSpPr>
          <p:cNvPr id="37" name="TextBox 50">
            <a:extLst>
              <a:ext uri="{FF2B5EF4-FFF2-40B4-BE49-F238E27FC236}">
                <a16:creationId xmlns:a16="http://schemas.microsoft.com/office/drawing/2014/main" id="{9046C99D-A49C-4B1C-005A-E632975C3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2371" y="2448172"/>
            <a:ext cx="199534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6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6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5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Exclude participants with no data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on PIR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N = 231</a:t>
            </a:r>
          </a:p>
        </p:txBody>
      </p:sp>
      <p:sp>
        <p:nvSpPr>
          <p:cNvPr id="38" name="TextBox 50">
            <a:extLst>
              <a:ext uri="{FF2B5EF4-FFF2-40B4-BE49-F238E27FC236}">
                <a16:creationId xmlns:a16="http://schemas.microsoft.com/office/drawing/2014/main" id="{136476EB-276B-825F-6D16-8482AAF179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69843" y="2001645"/>
            <a:ext cx="225108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6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6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5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Exclude participants with no data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 on urinary creatinine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N = 1</a:t>
            </a:r>
          </a:p>
        </p:txBody>
      </p:sp>
      <p:sp>
        <p:nvSpPr>
          <p:cNvPr id="39" name="TextBox 50">
            <a:extLst>
              <a:ext uri="{FF2B5EF4-FFF2-40B4-BE49-F238E27FC236}">
                <a16:creationId xmlns:a16="http://schemas.microsoft.com/office/drawing/2014/main" id="{4BA15E69-47EB-072C-26DE-22DF209E3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0748" y="2155789"/>
            <a:ext cx="2358548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6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6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5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Exclude participants with no data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on body dissatisfaction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N = 71,947</a:t>
            </a:r>
          </a:p>
        </p:txBody>
      </p:sp>
      <p:sp>
        <p:nvSpPr>
          <p:cNvPr id="40" name="TextBox 50">
            <a:extLst>
              <a:ext uri="{FF2B5EF4-FFF2-40B4-BE49-F238E27FC236}">
                <a16:creationId xmlns:a16="http://schemas.microsoft.com/office/drawing/2014/main" id="{34F21E86-F7A1-ABAE-ADFC-5F0D1ED7D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93407" y="2425420"/>
            <a:ext cx="2069736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6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6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5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Exclude participants with no data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on BMI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N = 26</a:t>
            </a:r>
          </a:p>
        </p:txBody>
      </p:sp>
      <p:sp>
        <p:nvSpPr>
          <p:cNvPr id="41" name="TextBox 50">
            <a:extLst>
              <a:ext uri="{FF2B5EF4-FFF2-40B4-BE49-F238E27FC236}">
                <a16:creationId xmlns:a16="http://schemas.microsoft.com/office/drawing/2014/main" id="{3BC8BD3A-33C8-D056-889D-E731177C1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80591" y="2074485"/>
            <a:ext cx="2488277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6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6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5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Exclude participants with no data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 on sunscreen usage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N = 3,299</a:t>
            </a:r>
          </a:p>
        </p:txBody>
      </p:sp>
      <p:sp>
        <p:nvSpPr>
          <p:cNvPr id="42" name="TextBox 50">
            <a:extLst>
              <a:ext uri="{FF2B5EF4-FFF2-40B4-BE49-F238E27FC236}">
                <a16:creationId xmlns:a16="http://schemas.microsoft.com/office/drawing/2014/main" id="{DA34B1E1-38FB-1D4C-17FE-2ACED9BCA8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9280" y="2448172"/>
            <a:ext cx="2337431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6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6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5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Exclude participants with no data on BP3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N = 24,507</a:t>
            </a:r>
          </a:p>
        </p:txBody>
      </p:sp>
      <p:sp>
        <p:nvSpPr>
          <p:cNvPr id="43" name="TextBox 50">
            <a:extLst>
              <a:ext uri="{FF2B5EF4-FFF2-40B4-BE49-F238E27FC236}">
                <a16:creationId xmlns:a16="http://schemas.microsoft.com/office/drawing/2014/main" id="{0502C0B6-B88A-1F5F-61DE-675266679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7399" y="2448172"/>
            <a:ext cx="3059042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6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6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5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Exclude participants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who feel underweight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N = 3,913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D2008E8-62D0-7868-1831-1FB14A188390}"/>
              </a:ext>
            </a:extLst>
          </p:cNvPr>
          <p:cNvCxnSpPr>
            <a:cxnSpLocks/>
          </p:cNvCxnSpPr>
          <p:nvPr/>
        </p:nvCxnSpPr>
        <p:spPr bwMode="auto">
          <a:xfrm>
            <a:off x="4580789" y="3137626"/>
            <a:ext cx="636491" cy="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8D4E7F7-F810-AAB0-FA58-F6C2D2898F19}"/>
              </a:ext>
            </a:extLst>
          </p:cNvPr>
          <p:cNvCxnSpPr>
            <a:cxnSpLocks/>
          </p:cNvCxnSpPr>
          <p:nvPr/>
        </p:nvCxnSpPr>
        <p:spPr bwMode="auto">
          <a:xfrm>
            <a:off x="7431278" y="3137626"/>
            <a:ext cx="636491" cy="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ACD9B25-2E87-3F72-7442-84F08F0F2E3F}"/>
              </a:ext>
            </a:extLst>
          </p:cNvPr>
          <p:cNvCxnSpPr>
            <a:cxnSpLocks/>
          </p:cNvCxnSpPr>
          <p:nvPr/>
        </p:nvCxnSpPr>
        <p:spPr bwMode="auto">
          <a:xfrm>
            <a:off x="9652719" y="3137626"/>
            <a:ext cx="636491" cy="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65AA8AF-78C8-2BA0-4339-1E459FB7B267}"/>
              </a:ext>
            </a:extLst>
          </p:cNvPr>
          <p:cNvCxnSpPr>
            <a:cxnSpLocks/>
          </p:cNvCxnSpPr>
          <p:nvPr/>
        </p:nvCxnSpPr>
        <p:spPr bwMode="auto">
          <a:xfrm>
            <a:off x="12555488" y="3137626"/>
            <a:ext cx="636491" cy="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B3E2820-6A66-0D15-D98B-52119A8AA42B}"/>
              </a:ext>
            </a:extLst>
          </p:cNvPr>
          <p:cNvCxnSpPr>
            <a:cxnSpLocks/>
          </p:cNvCxnSpPr>
          <p:nvPr/>
        </p:nvCxnSpPr>
        <p:spPr bwMode="auto">
          <a:xfrm>
            <a:off x="15684461" y="3137626"/>
            <a:ext cx="636491" cy="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55EE2E2-EECB-D41F-275F-69289D77674E}"/>
              </a:ext>
            </a:extLst>
          </p:cNvPr>
          <p:cNvCxnSpPr>
            <a:cxnSpLocks/>
          </p:cNvCxnSpPr>
          <p:nvPr/>
        </p:nvCxnSpPr>
        <p:spPr bwMode="auto">
          <a:xfrm>
            <a:off x="18353550" y="3114874"/>
            <a:ext cx="636491" cy="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AB760C7-7E12-2257-DF52-CA79FC26B67D}"/>
              </a:ext>
            </a:extLst>
          </p:cNvPr>
          <p:cNvCxnSpPr>
            <a:cxnSpLocks/>
          </p:cNvCxnSpPr>
          <p:nvPr/>
        </p:nvCxnSpPr>
        <p:spPr bwMode="auto">
          <a:xfrm>
            <a:off x="21203409" y="3137626"/>
            <a:ext cx="636491" cy="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3DEA7EBC-EB14-65FE-7977-2F0CA5BF5B90}"/>
              </a:ext>
            </a:extLst>
          </p:cNvPr>
          <p:cNvSpPr txBox="1"/>
          <p:nvPr/>
        </p:nvSpPr>
        <p:spPr>
          <a:xfrm>
            <a:off x="4421239" y="19777133"/>
            <a:ext cx="16126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Percent Difference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 BP3</a:t>
            </a:r>
          </a:p>
        </p:txBody>
      </p:sp>
      <p:sp>
        <p:nvSpPr>
          <p:cNvPr id="52" name="Up Arrow 51">
            <a:extLst>
              <a:ext uri="{FF2B5EF4-FFF2-40B4-BE49-F238E27FC236}">
                <a16:creationId xmlns:a16="http://schemas.microsoft.com/office/drawing/2014/main" id="{4CF72414-74D7-6B85-A3C0-92B5585B7384}"/>
              </a:ext>
            </a:extLst>
          </p:cNvPr>
          <p:cNvSpPr/>
          <p:nvPr/>
        </p:nvSpPr>
        <p:spPr>
          <a:xfrm flipH="1">
            <a:off x="6149610" y="19770508"/>
            <a:ext cx="199099" cy="436374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1C7F7E1-4F94-F43C-CCAF-CA0A2A12B8A4}"/>
              </a:ext>
            </a:extLst>
          </p:cNvPr>
          <p:cNvSpPr/>
          <p:nvPr/>
        </p:nvSpPr>
        <p:spPr>
          <a:xfrm>
            <a:off x="6161926" y="20217050"/>
            <a:ext cx="199098" cy="18330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Up Arrow 53">
            <a:extLst>
              <a:ext uri="{FF2B5EF4-FFF2-40B4-BE49-F238E27FC236}">
                <a16:creationId xmlns:a16="http://schemas.microsoft.com/office/drawing/2014/main" id="{C93DB8EE-B044-6DB8-B000-389AEEFD2765}"/>
              </a:ext>
            </a:extLst>
          </p:cNvPr>
          <p:cNvSpPr/>
          <p:nvPr/>
        </p:nvSpPr>
        <p:spPr>
          <a:xfrm rot="10800000" flipH="1">
            <a:off x="6155414" y="20414688"/>
            <a:ext cx="199099" cy="436374"/>
          </a:xfrm>
          <a:prstGeom prst="up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DD4EA03-F24C-9B81-2867-A43FB1F0AA61}"/>
              </a:ext>
            </a:extLst>
          </p:cNvPr>
          <p:cNvCxnSpPr>
            <a:cxnSpLocks/>
          </p:cNvCxnSpPr>
          <p:nvPr/>
        </p:nvCxnSpPr>
        <p:spPr bwMode="auto">
          <a:xfrm>
            <a:off x="5986524" y="21132997"/>
            <a:ext cx="4663440" cy="0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39B6C3D-4951-A471-7D8B-DA61BC7A2B9B}"/>
              </a:ext>
            </a:extLst>
          </p:cNvPr>
          <p:cNvCxnSpPr>
            <a:cxnSpLocks/>
          </p:cNvCxnSpPr>
          <p:nvPr/>
        </p:nvCxnSpPr>
        <p:spPr bwMode="auto">
          <a:xfrm flipV="1">
            <a:off x="5986519" y="19741348"/>
            <a:ext cx="0" cy="1423077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A5B8A865-EECA-1C63-52C6-7772AE018DE8}"/>
              </a:ext>
            </a:extLst>
          </p:cNvPr>
          <p:cNvSpPr txBox="1"/>
          <p:nvPr/>
        </p:nvSpPr>
        <p:spPr>
          <a:xfrm>
            <a:off x="6353032" y="19554849"/>
            <a:ext cx="2124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en-US" sz="2400" b="1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race,k_body</a:t>
            </a:r>
            <a:r>
              <a:rPr lang="en-US" altLang="en-US" sz="2400" b="1" kern="0" baseline="-25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81E6D0C-3844-11FA-A510-93834FD0663A}"/>
              </a:ext>
            </a:extLst>
          </p:cNvPr>
          <p:cNvSpPr txBox="1"/>
          <p:nvPr/>
        </p:nvSpPr>
        <p:spPr>
          <a:xfrm>
            <a:off x="6352738" y="20563105"/>
            <a:ext cx="1759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en-US" sz="2400" b="1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race,k_body</a:t>
            </a:r>
            <a:r>
              <a:rPr lang="en-US" altLang="en-US" sz="2400" b="1" kern="0" baseline="-25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9791A5F-DBBF-B932-BFE3-A3B99076F120}"/>
              </a:ext>
            </a:extLst>
          </p:cNvPr>
          <p:cNvSpPr txBox="1"/>
          <p:nvPr/>
        </p:nvSpPr>
        <p:spPr>
          <a:xfrm>
            <a:off x="6346791" y="20000381"/>
            <a:ext cx="1092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en-US" sz="2400" b="1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race,k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A81532C-E824-9391-D411-8FE1B249C372}"/>
              </a:ext>
            </a:extLst>
          </p:cNvPr>
          <p:cNvSpPr txBox="1"/>
          <p:nvPr/>
        </p:nvSpPr>
        <p:spPr>
          <a:xfrm>
            <a:off x="24481" y="12508943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594A3AB-295D-35AB-463A-03871CB3DB5D}"/>
              </a:ext>
            </a:extLst>
          </p:cNvPr>
          <p:cNvSpPr txBox="1"/>
          <p:nvPr/>
        </p:nvSpPr>
        <p:spPr>
          <a:xfrm>
            <a:off x="1874" y="13631289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5E80BD1-5924-D801-AA35-D40E0107E8E6}"/>
              </a:ext>
            </a:extLst>
          </p:cNvPr>
          <p:cNvSpPr txBox="1"/>
          <p:nvPr/>
        </p:nvSpPr>
        <p:spPr>
          <a:xfrm>
            <a:off x="7873407" y="19635432"/>
            <a:ext cx="610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801FA49-A587-6DAC-2914-A30C93AD0D1B}"/>
              </a:ext>
            </a:extLst>
          </p:cNvPr>
          <p:cNvSpPr txBox="1"/>
          <p:nvPr/>
        </p:nvSpPr>
        <p:spPr>
          <a:xfrm>
            <a:off x="7873407" y="20642214"/>
            <a:ext cx="610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88235C5-5A9F-8921-1580-C35531909821}"/>
              </a:ext>
            </a:extLst>
          </p:cNvPr>
          <p:cNvSpPr txBox="1"/>
          <p:nvPr/>
        </p:nvSpPr>
        <p:spPr>
          <a:xfrm>
            <a:off x="7872761" y="20125952"/>
            <a:ext cx="610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706DBBE-874F-347C-E810-ED58D580958A}"/>
              </a:ext>
            </a:extLst>
          </p:cNvPr>
          <p:cNvSpPr txBox="1"/>
          <p:nvPr/>
        </p:nvSpPr>
        <p:spPr>
          <a:xfrm>
            <a:off x="9200348" y="12519915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(4)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FC381CD-92BB-44A5-B78D-5540ABEF56DF}"/>
              </a:ext>
            </a:extLst>
          </p:cNvPr>
          <p:cNvSpPr txBox="1"/>
          <p:nvPr/>
        </p:nvSpPr>
        <p:spPr>
          <a:xfrm>
            <a:off x="9185102" y="13642261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(5)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F13960C-DF1D-3EC1-93FB-91793467E126}"/>
              </a:ext>
            </a:extLst>
          </p:cNvPr>
          <p:cNvSpPr txBox="1"/>
          <p:nvPr/>
        </p:nvSpPr>
        <p:spPr>
          <a:xfrm>
            <a:off x="18644896" y="20449257"/>
            <a:ext cx="25378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Race/ethnicity = j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FAC7AB9-BE17-A024-EC49-05BB73494E6A}"/>
              </a:ext>
            </a:extLst>
          </p:cNvPr>
          <p:cNvCxnSpPr>
            <a:cxnSpLocks/>
          </p:cNvCxnSpPr>
          <p:nvPr/>
        </p:nvCxnSpPr>
        <p:spPr bwMode="auto">
          <a:xfrm>
            <a:off x="21194271" y="21083684"/>
            <a:ext cx="3320430" cy="0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A0ABA5D-C008-25E6-A0B6-B1CBCF69E768}"/>
              </a:ext>
            </a:extLst>
          </p:cNvPr>
          <p:cNvCxnSpPr>
            <a:cxnSpLocks/>
          </p:cNvCxnSpPr>
          <p:nvPr/>
        </p:nvCxnSpPr>
        <p:spPr bwMode="auto">
          <a:xfrm flipV="1">
            <a:off x="21201733" y="19630077"/>
            <a:ext cx="0" cy="1423077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BE7260ED-1D4D-B81E-6941-3E51DE280DFB}"/>
              </a:ext>
            </a:extLst>
          </p:cNvPr>
          <p:cNvSpPr txBox="1"/>
          <p:nvPr/>
        </p:nvSpPr>
        <p:spPr>
          <a:xfrm>
            <a:off x="20647190" y="21344473"/>
            <a:ext cx="4350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Coefficient of determination R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0610B47-3DD1-E074-B191-DF3D1C91BF8D}"/>
              </a:ext>
            </a:extLst>
          </p:cNvPr>
          <p:cNvCxnSpPr/>
          <p:nvPr/>
        </p:nvCxnSpPr>
        <p:spPr>
          <a:xfrm>
            <a:off x="21981245" y="20020239"/>
            <a:ext cx="1920240" cy="0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35F3F3A-42CE-4BFB-1C13-04A6397B1B67}"/>
              </a:ext>
            </a:extLst>
          </p:cNvPr>
          <p:cNvSpPr txBox="1"/>
          <p:nvPr/>
        </p:nvSpPr>
        <p:spPr>
          <a:xfrm>
            <a:off x="21520609" y="20000381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BD6E5B9-C34E-AD24-2D46-9430D4A34F12}"/>
              </a:ext>
            </a:extLst>
          </p:cNvPr>
          <p:cNvSpPr txBox="1"/>
          <p:nvPr/>
        </p:nvSpPr>
        <p:spPr>
          <a:xfrm>
            <a:off x="23776193" y="20016514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(5)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91EE7F9-D83A-FF50-305E-48DDAC7A5690}"/>
              </a:ext>
            </a:extLst>
          </p:cNvPr>
          <p:cNvCxnSpPr>
            <a:cxnSpLocks/>
          </p:cNvCxnSpPr>
          <p:nvPr/>
        </p:nvCxnSpPr>
        <p:spPr>
          <a:xfrm flipV="1">
            <a:off x="21993999" y="20238252"/>
            <a:ext cx="1828800" cy="2721"/>
          </a:xfrm>
          <a:prstGeom prst="line">
            <a:avLst/>
          </a:prstGeom>
          <a:ln w="31750">
            <a:solidFill>
              <a:srgbClr val="7030A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D272CC49-EF71-E404-85D5-D8A0F7E4B76F}"/>
              </a:ext>
            </a:extLst>
          </p:cNvPr>
          <p:cNvSpPr txBox="1"/>
          <p:nvPr/>
        </p:nvSpPr>
        <p:spPr>
          <a:xfrm>
            <a:off x="21520609" y="19726349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5AB800F-DF2C-9DC3-F0D8-6631A1BF8706}"/>
              </a:ext>
            </a:extLst>
          </p:cNvPr>
          <p:cNvSpPr txBox="1"/>
          <p:nvPr/>
        </p:nvSpPr>
        <p:spPr>
          <a:xfrm>
            <a:off x="23810483" y="19726349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(4)</a:t>
            </a:r>
          </a:p>
        </p:txBody>
      </p:sp>
      <p:graphicFrame>
        <p:nvGraphicFramePr>
          <p:cNvPr id="77" name="Table 76">
            <a:extLst>
              <a:ext uri="{FF2B5EF4-FFF2-40B4-BE49-F238E27FC236}">
                <a16:creationId xmlns:a16="http://schemas.microsoft.com/office/drawing/2014/main" id="{5D3A76C1-4C59-17DA-847D-DF320E572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3922"/>
              </p:ext>
            </p:extLst>
          </p:nvPr>
        </p:nvGraphicFramePr>
        <p:xfrm>
          <a:off x="380275" y="14820222"/>
          <a:ext cx="1001995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1978">
                  <a:extLst>
                    <a:ext uri="{9D8B030D-6E8A-4147-A177-3AD203B41FA5}">
                      <a16:colId xmlns:a16="http://schemas.microsoft.com/office/drawing/2014/main" val="228771411"/>
                    </a:ext>
                  </a:extLst>
                </a:gridCol>
                <a:gridCol w="360218">
                  <a:extLst>
                    <a:ext uri="{9D8B030D-6E8A-4147-A177-3AD203B41FA5}">
                      <a16:colId xmlns:a16="http://schemas.microsoft.com/office/drawing/2014/main" val="2948560317"/>
                    </a:ext>
                  </a:extLst>
                </a:gridCol>
                <a:gridCol w="4167754">
                  <a:extLst>
                    <a:ext uri="{9D8B030D-6E8A-4147-A177-3AD203B41FA5}">
                      <a16:colId xmlns:a16="http://schemas.microsoft.com/office/drawing/2014/main" val="1248625941"/>
                    </a:ext>
                  </a:extLst>
                </a:gridCol>
              </a:tblGrid>
              <a:tr h="235756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log10(X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BP3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[race = non-Hispanic Black]) 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=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defTabSz="3298825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β</a:t>
                      </a:r>
                      <a:r>
                        <a:rPr kumimoji="0" lang="en-US" altLang="en-US" sz="2400" b="1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body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Age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cycle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</a:t>
                      </a:r>
                    </a:p>
                    <a:p>
                      <a:pPr marL="0" marR="0" lvl="0" indent="0" defTabSz="3298825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BMI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creatinine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 + </a:t>
                      </a:r>
                    </a:p>
                    <a:p>
                      <a:pPr marL="0" marR="0" lvl="0" indent="0" defTabSz="3298825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PIR 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0</a:t>
                      </a:r>
                      <a:endParaRPr kumimoji="0" lang="en-US" alt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217427"/>
                  </a:ext>
                </a:extLst>
              </a:tr>
            </a:tbl>
          </a:graphicData>
        </a:graphic>
      </p:graphicFrame>
      <p:sp>
        <p:nvSpPr>
          <p:cNvPr id="78" name="TextBox 77">
            <a:extLst>
              <a:ext uri="{FF2B5EF4-FFF2-40B4-BE49-F238E27FC236}">
                <a16:creationId xmlns:a16="http://schemas.microsoft.com/office/drawing/2014/main" id="{95C71AF8-E8E7-5FE6-5A76-B08021DB44F5}"/>
              </a:ext>
            </a:extLst>
          </p:cNvPr>
          <p:cNvSpPr txBox="1"/>
          <p:nvPr/>
        </p:nvSpPr>
        <p:spPr>
          <a:xfrm>
            <a:off x="0" y="14753468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(3)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571EF97-2392-72C8-DDED-5AE9A16B59C4}"/>
              </a:ext>
            </a:extLst>
          </p:cNvPr>
          <p:cNvSpPr txBox="1"/>
          <p:nvPr/>
        </p:nvSpPr>
        <p:spPr>
          <a:xfrm>
            <a:off x="9158027" y="14764440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(6)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F3F2CDD-BE07-C985-7BAC-BF45B2FFE021}"/>
              </a:ext>
            </a:extLst>
          </p:cNvPr>
          <p:cNvSpPr txBox="1"/>
          <p:nvPr/>
        </p:nvSpPr>
        <p:spPr>
          <a:xfrm>
            <a:off x="21520609" y="20516102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(7)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84A3909-990A-10B0-2223-494877ED024F}"/>
              </a:ext>
            </a:extLst>
          </p:cNvPr>
          <p:cNvSpPr txBox="1"/>
          <p:nvPr/>
        </p:nvSpPr>
        <p:spPr>
          <a:xfrm>
            <a:off x="23382162" y="20516101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(8)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50B891B-446C-60FF-AED5-6592356EE70E}"/>
              </a:ext>
            </a:extLst>
          </p:cNvPr>
          <p:cNvCxnSpPr>
            <a:cxnSpLocks/>
          </p:cNvCxnSpPr>
          <p:nvPr/>
        </p:nvCxnSpPr>
        <p:spPr>
          <a:xfrm>
            <a:off x="22063840" y="20765402"/>
            <a:ext cx="1336211" cy="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DC605ED0-9988-E8CD-56A6-67AD51C6DEB4}"/>
              </a:ext>
            </a:extLst>
          </p:cNvPr>
          <p:cNvSpPr txBox="1"/>
          <p:nvPr/>
        </p:nvSpPr>
        <p:spPr>
          <a:xfrm>
            <a:off x="19415873" y="19860133"/>
            <a:ext cx="1668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All Women</a:t>
            </a:r>
          </a:p>
        </p:txBody>
      </p:sp>
      <p:graphicFrame>
        <p:nvGraphicFramePr>
          <p:cNvPr id="84" name="Table 83">
            <a:extLst>
              <a:ext uri="{FF2B5EF4-FFF2-40B4-BE49-F238E27FC236}">
                <a16:creationId xmlns:a16="http://schemas.microsoft.com/office/drawing/2014/main" id="{C960A430-254C-C8DC-EC49-129173374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659520"/>
              </p:ext>
            </p:extLst>
          </p:nvPr>
        </p:nvGraphicFramePr>
        <p:xfrm>
          <a:off x="18698748" y="12765004"/>
          <a:ext cx="721627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0668">
                  <a:extLst>
                    <a:ext uri="{9D8B030D-6E8A-4147-A177-3AD203B41FA5}">
                      <a16:colId xmlns:a16="http://schemas.microsoft.com/office/drawing/2014/main" val="228771411"/>
                    </a:ext>
                  </a:extLst>
                </a:gridCol>
                <a:gridCol w="360219">
                  <a:extLst>
                    <a:ext uri="{9D8B030D-6E8A-4147-A177-3AD203B41FA5}">
                      <a16:colId xmlns:a16="http://schemas.microsoft.com/office/drawing/2014/main" val="2948560317"/>
                    </a:ext>
                  </a:extLst>
                </a:gridCol>
                <a:gridCol w="3585383">
                  <a:extLst>
                    <a:ext uri="{9D8B030D-6E8A-4147-A177-3AD203B41FA5}">
                      <a16:colId xmlns:a16="http://schemas.microsoft.com/office/drawing/2014/main" val="1248625941"/>
                    </a:ext>
                  </a:extLst>
                </a:gridCol>
              </a:tblGrid>
              <a:tr h="235756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log10(X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BP3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[race = j]) 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=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defTabSz="3298825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β</a:t>
                      </a:r>
                      <a:r>
                        <a:rPr kumimoji="0" lang="en-US" altLang="en-US" sz="2400" b="1" i="0" u="none" strike="noStrike" kern="0" cap="none" spc="0" normalizeH="0" baseline="-25000" noProof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body,k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Age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cycle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BMI</a:t>
                      </a:r>
                    </a:p>
                    <a:p>
                      <a:pPr marL="0" marR="0" lvl="0" indent="0" defTabSz="3298825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creatinine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 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PIR 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0</a:t>
                      </a:r>
                      <a:endParaRPr kumimoji="0" lang="en-US" alt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217427"/>
                  </a:ext>
                </a:extLst>
              </a:tr>
            </a:tbl>
          </a:graphicData>
        </a:graphic>
      </p:graphicFrame>
      <p:graphicFrame>
        <p:nvGraphicFramePr>
          <p:cNvPr id="85" name="Table 84">
            <a:extLst>
              <a:ext uri="{FF2B5EF4-FFF2-40B4-BE49-F238E27FC236}">
                <a16:creationId xmlns:a16="http://schemas.microsoft.com/office/drawing/2014/main" id="{5620B305-C75F-D0D5-76DF-9D5A26153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458235"/>
              </p:ext>
            </p:extLst>
          </p:nvPr>
        </p:nvGraphicFramePr>
        <p:xfrm>
          <a:off x="18175105" y="13540851"/>
          <a:ext cx="7489532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5736">
                  <a:extLst>
                    <a:ext uri="{9D8B030D-6E8A-4147-A177-3AD203B41FA5}">
                      <a16:colId xmlns:a16="http://schemas.microsoft.com/office/drawing/2014/main" val="228771411"/>
                    </a:ext>
                  </a:extLst>
                </a:gridCol>
                <a:gridCol w="443345">
                  <a:extLst>
                    <a:ext uri="{9D8B030D-6E8A-4147-A177-3AD203B41FA5}">
                      <a16:colId xmlns:a16="http://schemas.microsoft.com/office/drawing/2014/main" val="2948560317"/>
                    </a:ext>
                  </a:extLst>
                </a:gridCol>
                <a:gridCol w="3280451">
                  <a:extLst>
                    <a:ext uri="{9D8B030D-6E8A-4147-A177-3AD203B41FA5}">
                      <a16:colId xmlns:a16="http://schemas.microsoft.com/office/drawing/2014/main" val="1248625941"/>
                    </a:ext>
                  </a:extLst>
                </a:gridCol>
              </a:tblGrid>
              <a:tr h="235756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log10(X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BP3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[race = j]) 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=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defTabSz="3298825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β</a:t>
                      </a:r>
                      <a:r>
                        <a:rPr kumimoji="0" lang="en-US" altLang="en-US" sz="2400" b="1" i="0" u="none" strike="noStrike" kern="0" cap="none" spc="0" normalizeH="0" baseline="-25000" noProof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body,k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Age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cycle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</a:t>
                      </a:r>
                    </a:p>
                    <a:p>
                      <a:pPr marL="0" marR="0" lvl="0" indent="0" defTabSz="3298825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BMI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creatinine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 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PIR 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</a:t>
                      </a:r>
                      <a:r>
                        <a:rPr kumimoji="0" lang="en-US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β</a:t>
                      </a:r>
                      <a:r>
                        <a:rPr kumimoji="0" lang="en-US" altLang="en-US" sz="2400" b="1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sunscreen 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0</a:t>
                      </a:r>
                      <a:endParaRPr kumimoji="0" lang="en-US" alt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217427"/>
                  </a:ext>
                </a:extLst>
              </a:tr>
            </a:tbl>
          </a:graphicData>
        </a:graphic>
      </p:graphicFrame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0F4944A1-6970-096D-D11C-C18E597545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618683"/>
              </p:ext>
            </p:extLst>
          </p:nvPr>
        </p:nvGraphicFramePr>
        <p:xfrm>
          <a:off x="9761722" y="14785970"/>
          <a:ext cx="9126991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7121">
                  <a:extLst>
                    <a:ext uri="{9D8B030D-6E8A-4147-A177-3AD203B41FA5}">
                      <a16:colId xmlns:a16="http://schemas.microsoft.com/office/drawing/2014/main" val="228771411"/>
                    </a:ext>
                  </a:extLst>
                </a:gridCol>
                <a:gridCol w="249382">
                  <a:extLst>
                    <a:ext uri="{9D8B030D-6E8A-4147-A177-3AD203B41FA5}">
                      <a16:colId xmlns:a16="http://schemas.microsoft.com/office/drawing/2014/main" val="2948560317"/>
                    </a:ext>
                  </a:extLst>
                </a:gridCol>
                <a:gridCol w="3400488">
                  <a:extLst>
                    <a:ext uri="{9D8B030D-6E8A-4147-A177-3AD203B41FA5}">
                      <a16:colId xmlns:a16="http://schemas.microsoft.com/office/drawing/2014/main" val="1248625941"/>
                    </a:ext>
                  </a:extLst>
                </a:gridCol>
              </a:tblGrid>
              <a:tr h="235756"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log10(X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BP3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[race = non-Hispanic Black]) 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=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defTabSz="3298825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β</a:t>
                      </a:r>
                      <a:r>
                        <a:rPr kumimoji="0" lang="en-US" altLang="en-US" sz="2400" b="1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body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Age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cycle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</a:t>
                      </a:r>
                    </a:p>
                    <a:p>
                      <a:pPr marL="0" marR="0" lvl="0" indent="0" defTabSz="3298825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BMI 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creatinine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 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PIR 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</a:t>
                      </a:r>
                      <a:r>
                        <a:rPr kumimoji="0" lang="en-US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β</a:t>
                      </a:r>
                      <a:r>
                        <a:rPr kumimoji="0" lang="en-US" altLang="en-US" sz="2400" b="1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sunscreen </a:t>
                      </a:r>
                      <a:r>
                        <a:rPr kumimoji="0" lang="en-US" alt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+ β</a:t>
                      </a:r>
                      <a:r>
                        <a:rPr kumimoji="0" lang="en-US" altLang="en-US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</a:rPr>
                        <a:t>0</a:t>
                      </a:r>
                      <a:endParaRPr kumimoji="0" lang="en-US" alt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217427"/>
                  </a:ext>
                </a:extLst>
              </a:tr>
            </a:tbl>
          </a:graphicData>
        </a:graphic>
      </p:graphicFrame>
      <p:sp>
        <p:nvSpPr>
          <p:cNvPr id="87" name="TextBox 86">
            <a:extLst>
              <a:ext uri="{FF2B5EF4-FFF2-40B4-BE49-F238E27FC236}">
                <a16:creationId xmlns:a16="http://schemas.microsoft.com/office/drawing/2014/main" id="{87664D48-F6BD-B94F-6BF2-D0B361FD9415}"/>
              </a:ext>
            </a:extLst>
          </p:cNvPr>
          <p:cNvSpPr txBox="1"/>
          <p:nvPr/>
        </p:nvSpPr>
        <p:spPr>
          <a:xfrm>
            <a:off x="18508022" y="12696217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(7)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1D60018-1C44-CE1D-018A-EC4AB50F1B91}"/>
              </a:ext>
            </a:extLst>
          </p:cNvPr>
          <p:cNvSpPr txBox="1"/>
          <p:nvPr/>
        </p:nvSpPr>
        <p:spPr>
          <a:xfrm>
            <a:off x="18486972" y="13522749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(8)</a:t>
            </a:r>
          </a:p>
        </p:txBody>
      </p:sp>
      <p:sp>
        <p:nvSpPr>
          <p:cNvPr id="89" name="TextBox 51">
            <a:extLst>
              <a:ext uri="{FF2B5EF4-FFF2-40B4-BE49-F238E27FC236}">
                <a16:creationId xmlns:a16="http://schemas.microsoft.com/office/drawing/2014/main" id="{B1393624-D58B-03A5-3958-ED9E99040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166" y="10416366"/>
            <a:ext cx="587974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1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0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kern="0" dirty="0">
                <a:cs typeface="Arial" panose="020B0604020202020204" pitchFamily="34" charset="0"/>
              </a:rPr>
              <a:t>k ∈ {Mexican American,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kern="0" dirty="0">
                <a:cs typeface="Arial" panose="020B0604020202020204" pitchFamily="34" charset="0"/>
              </a:rPr>
              <a:t>        Other Hispanic,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kern="0" dirty="0">
                <a:cs typeface="Arial" panose="020B0604020202020204" pitchFamily="34" charset="0"/>
              </a:rPr>
              <a:t>        non-Hispanic Asian,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kern="0" dirty="0">
                <a:cs typeface="Arial" panose="020B0604020202020204" pitchFamily="34" charset="0"/>
              </a:rPr>
              <a:t>        non-Hispanic White,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kern="0" dirty="0">
                <a:cs typeface="Arial" panose="020B0604020202020204" pitchFamily="34" charset="0"/>
              </a:rPr>
              <a:t>        Other Race - Including Multi-Racial}</a:t>
            </a:r>
          </a:p>
        </p:txBody>
      </p:sp>
      <p:sp>
        <p:nvSpPr>
          <p:cNvPr id="90" name="TextBox 51">
            <a:extLst>
              <a:ext uri="{FF2B5EF4-FFF2-40B4-BE49-F238E27FC236}">
                <a16:creationId xmlns:a16="http://schemas.microsoft.com/office/drawing/2014/main" id="{28E09C09-89EF-6D20-7185-C8AFD80E9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0216" y="10357165"/>
            <a:ext cx="5843063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1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0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kern="0" dirty="0">
                <a:cs typeface="Arial" panose="020B0604020202020204" pitchFamily="34" charset="0"/>
              </a:rPr>
              <a:t>j ∈ {Mexican American,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kern="0" dirty="0">
                <a:cs typeface="Arial" panose="020B0604020202020204" pitchFamily="34" charset="0"/>
              </a:rPr>
              <a:t>       Other Hispanic,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kern="0" dirty="0">
                <a:cs typeface="Arial" panose="020B0604020202020204" pitchFamily="34" charset="0"/>
              </a:rPr>
              <a:t>       non-Hispanic Asian,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kern="0" dirty="0">
                <a:cs typeface="Arial" panose="020B0604020202020204" pitchFamily="34" charset="0"/>
              </a:rPr>
              <a:t>       non-Hispanic White,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kern="0" dirty="0">
                <a:cs typeface="Arial" panose="020B0604020202020204" pitchFamily="34" charset="0"/>
              </a:rPr>
              <a:t>       Other Race - Including Multi-Racial,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kern="0" dirty="0">
                <a:cs typeface="Arial" panose="020B0604020202020204" pitchFamily="34" charset="0"/>
              </a:rPr>
              <a:t>       </a:t>
            </a:r>
            <a:r>
              <a:rPr lang="en-US" altLang="en-US" sz="2400" b="1" kern="0" dirty="0">
                <a:cs typeface="Arial" panose="020B0604020202020204" pitchFamily="34" charset="0"/>
              </a:rPr>
              <a:t>non-Hispanic Black</a:t>
            </a:r>
            <a:r>
              <a:rPr lang="en-US" altLang="en-US" sz="2400" kern="0" dirty="0">
                <a:cs typeface="Arial" panose="020B0604020202020204" pitchFamily="34" charset="0"/>
              </a:rPr>
              <a:t>} </a:t>
            </a:r>
          </a:p>
        </p:txBody>
      </p:sp>
      <p:sp>
        <p:nvSpPr>
          <p:cNvPr id="91" name="TextBox 51">
            <a:extLst>
              <a:ext uri="{FF2B5EF4-FFF2-40B4-BE49-F238E27FC236}">
                <a16:creationId xmlns:a16="http://schemas.microsoft.com/office/drawing/2014/main" id="{A0CFA7FD-4A39-951A-6BEE-5B5CCEC28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12038" y="10437971"/>
            <a:ext cx="587974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1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0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kern="0" dirty="0">
                <a:cs typeface="Arial" panose="020B0604020202020204" pitchFamily="34" charset="0"/>
              </a:rPr>
              <a:t>k ∈ {Mexican American,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kern="0" dirty="0">
                <a:cs typeface="Arial" panose="020B0604020202020204" pitchFamily="34" charset="0"/>
              </a:rPr>
              <a:t>        Other Hispanic,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kern="0" dirty="0">
                <a:cs typeface="Arial" panose="020B0604020202020204" pitchFamily="34" charset="0"/>
              </a:rPr>
              <a:t>        non-Hispanic Asian,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kern="0" dirty="0">
                <a:cs typeface="Arial" panose="020B0604020202020204" pitchFamily="34" charset="0"/>
              </a:rPr>
              <a:t>        non-Hispanic White,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kern="0" dirty="0">
                <a:cs typeface="Arial" panose="020B0604020202020204" pitchFamily="34" charset="0"/>
              </a:rPr>
              <a:t>        Other Race - Including Multi-Racial}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29DE9D39-E537-8041-8C7D-377F7CDF0A5C}"/>
              </a:ext>
            </a:extLst>
          </p:cNvPr>
          <p:cNvSpPr/>
          <p:nvPr/>
        </p:nvSpPr>
        <p:spPr bwMode="auto">
          <a:xfrm>
            <a:off x="724037" y="6450152"/>
            <a:ext cx="6673003" cy="457200"/>
          </a:xfrm>
          <a:prstGeom prst="roundRect">
            <a:avLst/>
          </a:prstGeom>
          <a:solidFill>
            <a:srgbClr val="000066"/>
          </a:solidFill>
          <a:ln w="25400" cap="flat" cmpd="sng" algn="ctr">
            <a:solidFill>
              <a:srgbClr val="2D2D8A"/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600" b="1" kern="0" dirty="0">
                <a:solidFill>
                  <a:srgbClr val="F0A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Question 1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E719B307-D226-755C-3329-0D340DA889CA}"/>
              </a:ext>
            </a:extLst>
          </p:cNvPr>
          <p:cNvSpPr/>
          <p:nvPr/>
        </p:nvSpPr>
        <p:spPr bwMode="auto">
          <a:xfrm>
            <a:off x="10231292" y="6454487"/>
            <a:ext cx="6661355" cy="457200"/>
          </a:xfrm>
          <a:prstGeom prst="roundRect">
            <a:avLst/>
          </a:prstGeom>
          <a:solidFill>
            <a:srgbClr val="000066"/>
          </a:solidFill>
          <a:ln w="25400" cap="flat" cmpd="sng" algn="ctr">
            <a:solidFill>
              <a:srgbClr val="2D2D8A"/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600" b="1" kern="0" dirty="0">
                <a:solidFill>
                  <a:srgbClr val="F0A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Question 2</a:t>
            </a:r>
          </a:p>
        </p:txBody>
      </p:sp>
      <p:sp>
        <p:nvSpPr>
          <p:cNvPr id="94" name="TextBox 18">
            <a:extLst>
              <a:ext uri="{FF2B5EF4-FFF2-40B4-BE49-F238E27FC236}">
                <a16:creationId xmlns:a16="http://schemas.microsoft.com/office/drawing/2014/main" id="{5F427461-CC9A-DE2F-6F1A-DB468D5BF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298" y="6978700"/>
            <a:ext cx="69816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6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6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5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How does body dissatisfaction impact the racial disparities in biomarker levels of BP3?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04F23288-775A-F18C-7823-6CA2130F353A}"/>
              </a:ext>
            </a:extLst>
          </p:cNvPr>
          <p:cNvSpPr/>
          <p:nvPr/>
        </p:nvSpPr>
        <p:spPr bwMode="auto">
          <a:xfrm>
            <a:off x="18623514" y="6441619"/>
            <a:ext cx="6673003" cy="457200"/>
          </a:xfrm>
          <a:prstGeom prst="roundRect">
            <a:avLst/>
          </a:prstGeom>
          <a:solidFill>
            <a:srgbClr val="000066"/>
          </a:solidFill>
          <a:ln w="25400" cap="flat" cmpd="sng" algn="ctr">
            <a:solidFill>
              <a:srgbClr val="2D2D8A"/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600" b="1" kern="0" dirty="0">
                <a:solidFill>
                  <a:srgbClr val="F0A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Question 3</a:t>
            </a:r>
          </a:p>
        </p:txBody>
      </p:sp>
      <p:sp>
        <p:nvSpPr>
          <p:cNvPr id="96" name="TextBox 18">
            <a:extLst>
              <a:ext uri="{FF2B5EF4-FFF2-40B4-BE49-F238E27FC236}">
                <a16:creationId xmlns:a16="http://schemas.microsoft.com/office/drawing/2014/main" id="{E4069198-CE8E-07E7-F300-845053995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43253" y="6997785"/>
            <a:ext cx="667300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6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6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5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What is the contribution of sunscreen usage in explaining biomarker levels of BP3?</a:t>
            </a:r>
          </a:p>
        </p:txBody>
      </p:sp>
      <p:sp>
        <p:nvSpPr>
          <p:cNvPr id="97" name="TextBox 18">
            <a:extLst>
              <a:ext uri="{FF2B5EF4-FFF2-40B4-BE49-F238E27FC236}">
                <a16:creationId xmlns:a16="http://schemas.microsoft.com/office/drawing/2014/main" id="{98F6BA56-9CC8-9EE6-471A-319DFACBC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30050" y="6870905"/>
            <a:ext cx="667300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6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6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5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4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kern="0" dirty="0">
                <a:cs typeface="Arial" panose="020B0604020202020204" pitchFamily="34" charset="0"/>
              </a:rPr>
              <a:t>How does sunscreen usage affect the differences in BP3 levels by race/ethnicity and body dissatisfaction?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50339CE-9848-0169-576B-3E4A8BB0C7F4}"/>
              </a:ext>
            </a:extLst>
          </p:cNvPr>
          <p:cNvCxnSpPr>
            <a:cxnSpLocks/>
          </p:cNvCxnSpPr>
          <p:nvPr/>
        </p:nvCxnSpPr>
        <p:spPr bwMode="auto">
          <a:xfrm>
            <a:off x="13742798" y="8125930"/>
            <a:ext cx="0" cy="45720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C351377A-2DFA-3BE0-C6DC-25A327FFF8D5}"/>
              </a:ext>
            </a:extLst>
          </p:cNvPr>
          <p:cNvCxnSpPr/>
          <p:nvPr/>
        </p:nvCxnSpPr>
        <p:spPr bwMode="auto">
          <a:xfrm>
            <a:off x="22104089" y="8100242"/>
            <a:ext cx="0" cy="45720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CAB641CB-653E-23C5-0CDA-ACB55BBF5848}"/>
              </a:ext>
            </a:extLst>
          </p:cNvPr>
          <p:cNvCxnSpPr/>
          <p:nvPr/>
        </p:nvCxnSpPr>
        <p:spPr bwMode="auto">
          <a:xfrm>
            <a:off x="4334559" y="8067419"/>
            <a:ext cx="0" cy="45720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sp>
        <p:nvSpPr>
          <p:cNvPr id="101" name="Up Arrow 100">
            <a:extLst>
              <a:ext uri="{FF2B5EF4-FFF2-40B4-BE49-F238E27FC236}">
                <a16:creationId xmlns:a16="http://schemas.microsoft.com/office/drawing/2014/main" id="{C2DF620B-F18F-AE4F-E5FC-E50F0DF0C835}"/>
              </a:ext>
            </a:extLst>
          </p:cNvPr>
          <p:cNvSpPr/>
          <p:nvPr/>
        </p:nvSpPr>
        <p:spPr>
          <a:xfrm flipH="1">
            <a:off x="8405240" y="20600383"/>
            <a:ext cx="199099" cy="436374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F71B90A-E02A-EBD2-DFBE-5A0857F622B8}"/>
              </a:ext>
            </a:extLst>
          </p:cNvPr>
          <p:cNvSpPr/>
          <p:nvPr/>
        </p:nvSpPr>
        <p:spPr>
          <a:xfrm>
            <a:off x="8417556" y="21046925"/>
            <a:ext cx="199098" cy="18330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Up Arrow 102">
            <a:extLst>
              <a:ext uri="{FF2B5EF4-FFF2-40B4-BE49-F238E27FC236}">
                <a16:creationId xmlns:a16="http://schemas.microsoft.com/office/drawing/2014/main" id="{006182F1-57D4-9308-A3F9-AA460E58C58C}"/>
              </a:ext>
            </a:extLst>
          </p:cNvPr>
          <p:cNvSpPr/>
          <p:nvPr/>
        </p:nvSpPr>
        <p:spPr>
          <a:xfrm rot="10800000" flipH="1">
            <a:off x="8411044" y="21244563"/>
            <a:ext cx="199099" cy="436374"/>
          </a:xfrm>
          <a:prstGeom prst="up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F41C573-3FF3-F6ED-42CA-EED41A6401B7}"/>
              </a:ext>
            </a:extLst>
          </p:cNvPr>
          <p:cNvSpPr txBox="1"/>
          <p:nvPr/>
        </p:nvSpPr>
        <p:spPr>
          <a:xfrm>
            <a:off x="8608662" y="20384724"/>
            <a:ext cx="2236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en-US" sz="2400" b="1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reference,body</a:t>
            </a:r>
            <a:r>
              <a:rPr lang="en-US" altLang="en-US" sz="2400" b="1" kern="0" baseline="-25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1C69A23-7D81-9096-C291-6DDE62AB584D}"/>
              </a:ext>
            </a:extLst>
          </p:cNvPr>
          <p:cNvSpPr txBox="1"/>
          <p:nvPr/>
        </p:nvSpPr>
        <p:spPr>
          <a:xfrm>
            <a:off x="8608368" y="21392980"/>
            <a:ext cx="2446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en-US" sz="2400" b="1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reference,body</a:t>
            </a:r>
            <a:r>
              <a:rPr lang="en-US" altLang="en-US" sz="2400" b="1" kern="0" baseline="-25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D8C8120-8302-2570-4F41-AB354836B223}"/>
              </a:ext>
            </a:extLst>
          </p:cNvPr>
          <p:cNvSpPr txBox="1"/>
          <p:nvPr/>
        </p:nvSpPr>
        <p:spPr>
          <a:xfrm>
            <a:off x="8603220" y="20890533"/>
            <a:ext cx="1471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en-US" sz="2400" b="1" kern="0" baseline="-25000" dirty="0"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019AB2E-5A70-F23E-B0FA-384847147BE3}"/>
              </a:ext>
            </a:extLst>
          </p:cNvPr>
          <p:cNvSpPr txBox="1"/>
          <p:nvPr/>
        </p:nvSpPr>
        <p:spPr>
          <a:xfrm>
            <a:off x="10406582" y="20438613"/>
            <a:ext cx="610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(3)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8EAF68F-0226-A5FD-D115-7A9AFC0612DD}"/>
              </a:ext>
            </a:extLst>
          </p:cNvPr>
          <p:cNvSpPr txBox="1"/>
          <p:nvPr/>
        </p:nvSpPr>
        <p:spPr>
          <a:xfrm>
            <a:off x="10406582" y="21445395"/>
            <a:ext cx="610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(3)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25636A3-B95E-785A-72A2-39D4C89CA386}"/>
              </a:ext>
            </a:extLst>
          </p:cNvPr>
          <p:cNvSpPr txBox="1"/>
          <p:nvPr/>
        </p:nvSpPr>
        <p:spPr>
          <a:xfrm>
            <a:off x="10405936" y="20929133"/>
            <a:ext cx="610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(3)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25CA3A3-4FE2-0A76-CA29-5E6217370631}"/>
              </a:ext>
            </a:extLst>
          </p:cNvPr>
          <p:cNvSpPr txBox="1"/>
          <p:nvPr/>
        </p:nvSpPr>
        <p:spPr>
          <a:xfrm>
            <a:off x="5237532" y="21996201"/>
            <a:ext cx="2965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Race/ethnicity = k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57CE164-0848-39BA-F129-563D2358E537}"/>
              </a:ext>
            </a:extLst>
          </p:cNvPr>
          <p:cNvSpPr txBox="1"/>
          <p:nvPr/>
        </p:nvSpPr>
        <p:spPr>
          <a:xfrm>
            <a:off x="8189972" y="22012979"/>
            <a:ext cx="3074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Non-Hispanic Black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6A03314-B046-78D2-8906-A95D5529F665}"/>
              </a:ext>
            </a:extLst>
          </p:cNvPr>
          <p:cNvSpPr txBox="1"/>
          <p:nvPr/>
        </p:nvSpPr>
        <p:spPr>
          <a:xfrm>
            <a:off x="11519755" y="19874084"/>
            <a:ext cx="16315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Percent Difference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 BP3</a:t>
            </a:r>
          </a:p>
        </p:txBody>
      </p:sp>
      <p:sp>
        <p:nvSpPr>
          <p:cNvPr id="113" name="Up Arrow 112">
            <a:extLst>
              <a:ext uri="{FF2B5EF4-FFF2-40B4-BE49-F238E27FC236}">
                <a16:creationId xmlns:a16="http://schemas.microsoft.com/office/drawing/2014/main" id="{B2CB376D-3474-A97D-F02A-738B24651449}"/>
              </a:ext>
            </a:extLst>
          </p:cNvPr>
          <p:cNvSpPr/>
          <p:nvPr/>
        </p:nvSpPr>
        <p:spPr>
          <a:xfrm flipH="1">
            <a:off x="13298988" y="19701073"/>
            <a:ext cx="199099" cy="436374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FD1853D7-E913-3CF4-E298-AE2E511664E0}"/>
              </a:ext>
            </a:extLst>
          </p:cNvPr>
          <p:cNvSpPr/>
          <p:nvPr/>
        </p:nvSpPr>
        <p:spPr>
          <a:xfrm>
            <a:off x="13299730" y="20147615"/>
            <a:ext cx="199098" cy="18330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Up Arrow 114">
            <a:extLst>
              <a:ext uri="{FF2B5EF4-FFF2-40B4-BE49-F238E27FC236}">
                <a16:creationId xmlns:a16="http://schemas.microsoft.com/office/drawing/2014/main" id="{37D71DE3-1E50-6CD4-4758-88F24991A572}"/>
              </a:ext>
            </a:extLst>
          </p:cNvPr>
          <p:cNvSpPr/>
          <p:nvPr/>
        </p:nvSpPr>
        <p:spPr>
          <a:xfrm rot="10800000" flipH="1">
            <a:off x="13304792" y="20345253"/>
            <a:ext cx="199099" cy="436374"/>
          </a:xfrm>
          <a:prstGeom prst="up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4911E3FA-00F6-5F74-E05F-1DF58B197AF7}"/>
              </a:ext>
            </a:extLst>
          </p:cNvPr>
          <p:cNvCxnSpPr>
            <a:cxnSpLocks/>
          </p:cNvCxnSpPr>
          <p:nvPr/>
        </p:nvCxnSpPr>
        <p:spPr bwMode="auto">
          <a:xfrm>
            <a:off x="13199560" y="21063562"/>
            <a:ext cx="4572000" cy="0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2F487085-AF96-B222-6AE8-2D4ED8D0994B}"/>
              </a:ext>
            </a:extLst>
          </p:cNvPr>
          <p:cNvCxnSpPr>
            <a:cxnSpLocks/>
          </p:cNvCxnSpPr>
          <p:nvPr/>
        </p:nvCxnSpPr>
        <p:spPr bwMode="auto">
          <a:xfrm flipV="1">
            <a:off x="13199555" y="19666126"/>
            <a:ext cx="0" cy="1423077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5568532D-06B7-6EEA-5303-9C18F37D9AAB}"/>
              </a:ext>
            </a:extLst>
          </p:cNvPr>
          <p:cNvSpPr txBox="1"/>
          <p:nvPr/>
        </p:nvSpPr>
        <p:spPr>
          <a:xfrm>
            <a:off x="13502413" y="19485414"/>
            <a:ext cx="16369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en-US" sz="2400" b="1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race,k_body</a:t>
            </a:r>
            <a:r>
              <a:rPr lang="en-US" altLang="en-US" sz="2400" b="1" kern="0" baseline="-25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4684CEE-1D5C-0734-1F35-AA181F321A04}"/>
              </a:ext>
            </a:extLst>
          </p:cNvPr>
          <p:cNvSpPr txBox="1"/>
          <p:nvPr/>
        </p:nvSpPr>
        <p:spPr>
          <a:xfrm>
            <a:off x="13502118" y="20493670"/>
            <a:ext cx="1688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en-US" sz="2400" b="1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race,k_body</a:t>
            </a:r>
            <a:r>
              <a:rPr lang="en-US" altLang="en-US" sz="2400" b="1" kern="0" baseline="-25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E7F8F3F-A713-BB96-76DA-4A46A3ABFBE9}"/>
              </a:ext>
            </a:extLst>
          </p:cNvPr>
          <p:cNvSpPr txBox="1"/>
          <p:nvPr/>
        </p:nvSpPr>
        <p:spPr>
          <a:xfrm>
            <a:off x="13514093" y="20023197"/>
            <a:ext cx="965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en-US" sz="2400" b="1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race,k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23920A5-C828-C32C-A1A8-785E14712D12}"/>
              </a:ext>
            </a:extLst>
          </p:cNvPr>
          <p:cNvSpPr txBox="1"/>
          <p:nvPr/>
        </p:nvSpPr>
        <p:spPr>
          <a:xfrm>
            <a:off x="15025716" y="19565997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(5)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157FA23-AA1A-73B0-F0B5-9331B3862306}"/>
              </a:ext>
            </a:extLst>
          </p:cNvPr>
          <p:cNvSpPr txBox="1"/>
          <p:nvPr/>
        </p:nvSpPr>
        <p:spPr>
          <a:xfrm>
            <a:off x="15025716" y="20572779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(5)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14C39D6-845D-C87D-79D5-03CE57B22952}"/>
              </a:ext>
            </a:extLst>
          </p:cNvPr>
          <p:cNvSpPr txBox="1"/>
          <p:nvPr/>
        </p:nvSpPr>
        <p:spPr>
          <a:xfrm>
            <a:off x="15025070" y="20056517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(4)</a:t>
            </a:r>
          </a:p>
        </p:txBody>
      </p:sp>
      <p:sp>
        <p:nvSpPr>
          <p:cNvPr id="124" name="Up Arrow 123">
            <a:extLst>
              <a:ext uri="{FF2B5EF4-FFF2-40B4-BE49-F238E27FC236}">
                <a16:creationId xmlns:a16="http://schemas.microsoft.com/office/drawing/2014/main" id="{09DCE133-3055-1CCF-B894-E2012DAF724D}"/>
              </a:ext>
            </a:extLst>
          </p:cNvPr>
          <p:cNvSpPr/>
          <p:nvPr/>
        </p:nvSpPr>
        <p:spPr>
          <a:xfrm flipH="1">
            <a:off x="15526980" y="20530948"/>
            <a:ext cx="199099" cy="436374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0394656F-3AAA-6B8E-AB44-250B2C08090E}"/>
              </a:ext>
            </a:extLst>
          </p:cNvPr>
          <p:cNvSpPr/>
          <p:nvPr/>
        </p:nvSpPr>
        <p:spPr>
          <a:xfrm>
            <a:off x="15539296" y="20977490"/>
            <a:ext cx="199098" cy="18330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Up Arrow 125">
            <a:extLst>
              <a:ext uri="{FF2B5EF4-FFF2-40B4-BE49-F238E27FC236}">
                <a16:creationId xmlns:a16="http://schemas.microsoft.com/office/drawing/2014/main" id="{B1070242-473D-CEAD-BDCB-996A2414831F}"/>
              </a:ext>
            </a:extLst>
          </p:cNvPr>
          <p:cNvSpPr/>
          <p:nvPr/>
        </p:nvSpPr>
        <p:spPr>
          <a:xfrm rot="10800000" flipH="1">
            <a:off x="15532784" y="21175128"/>
            <a:ext cx="199099" cy="436374"/>
          </a:xfrm>
          <a:prstGeom prst="up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8052189-FCDD-9689-7345-19F125C0DFA7}"/>
              </a:ext>
            </a:extLst>
          </p:cNvPr>
          <p:cNvSpPr txBox="1"/>
          <p:nvPr/>
        </p:nvSpPr>
        <p:spPr>
          <a:xfrm>
            <a:off x="15730404" y="20315289"/>
            <a:ext cx="1911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en-US" sz="2400" b="1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reference,body</a:t>
            </a:r>
            <a:r>
              <a:rPr lang="en-US" altLang="en-US" sz="2400" b="1" kern="0" baseline="-25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D8D0E9A-3A4B-12C3-1E7A-BEEA0C297890}"/>
              </a:ext>
            </a:extLst>
          </p:cNvPr>
          <p:cNvSpPr txBox="1"/>
          <p:nvPr/>
        </p:nvSpPr>
        <p:spPr>
          <a:xfrm>
            <a:off x="15730110" y="21323545"/>
            <a:ext cx="1962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en-US" sz="2400" b="1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reference,body</a:t>
            </a:r>
            <a:r>
              <a:rPr lang="en-US" altLang="en-US" sz="2400" b="1" kern="0" baseline="-25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65ED2533-D3C6-4D05-329C-6465D2DED34A}"/>
              </a:ext>
            </a:extLst>
          </p:cNvPr>
          <p:cNvSpPr txBox="1"/>
          <p:nvPr/>
        </p:nvSpPr>
        <p:spPr>
          <a:xfrm>
            <a:off x="15718845" y="20825006"/>
            <a:ext cx="1295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en-US" sz="2400" b="1" kern="0" baseline="-25000" dirty="0"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C5C2442D-90FE-D8AF-3543-427C436B3282}"/>
              </a:ext>
            </a:extLst>
          </p:cNvPr>
          <p:cNvSpPr txBox="1"/>
          <p:nvPr/>
        </p:nvSpPr>
        <p:spPr>
          <a:xfrm>
            <a:off x="17504487" y="20403710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(6)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AC504D9-86EA-DA10-362D-590055FE426F}"/>
              </a:ext>
            </a:extLst>
          </p:cNvPr>
          <p:cNvSpPr txBox="1"/>
          <p:nvPr/>
        </p:nvSpPr>
        <p:spPr>
          <a:xfrm>
            <a:off x="17504487" y="21410492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(6)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F6A4C3A-D478-B92B-A1A1-7C48E1BB0923}"/>
              </a:ext>
            </a:extLst>
          </p:cNvPr>
          <p:cNvSpPr txBox="1"/>
          <p:nvPr/>
        </p:nvSpPr>
        <p:spPr>
          <a:xfrm>
            <a:off x="17510291" y="20842476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(6)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1603F4E-133A-AF08-2518-B771E3AD2C7F}"/>
              </a:ext>
            </a:extLst>
          </p:cNvPr>
          <p:cNvSpPr txBox="1"/>
          <p:nvPr/>
        </p:nvSpPr>
        <p:spPr>
          <a:xfrm>
            <a:off x="12566778" y="18475320"/>
            <a:ext cx="54649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Figure 4. Panel of arrow divergence 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and forest plots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C59F2662-2FAB-B156-35B0-D111B907FD64}"/>
              </a:ext>
            </a:extLst>
          </p:cNvPr>
          <p:cNvSpPr txBox="1"/>
          <p:nvPr/>
        </p:nvSpPr>
        <p:spPr>
          <a:xfrm>
            <a:off x="5185006" y="18445805"/>
            <a:ext cx="54649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Figure 3. Panel of arrow divergence 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and forest plots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36F1D4A-95A2-BC86-8D40-084C55031266}"/>
              </a:ext>
            </a:extLst>
          </p:cNvPr>
          <p:cNvSpPr txBox="1"/>
          <p:nvPr/>
        </p:nvSpPr>
        <p:spPr>
          <a:xfrm>
            <a:off x="20444038" y="18569855"/>
            <a:ext cx="4321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Figure 5. Alphabet soup plot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6EFACD99-642D-18B5-8876-54AFCE74DC98}"/>
              </a:ext>
            </a:extLst>
          </p:cNvPr>
          <p:cNvSpPr txBox="1"/>
          <p:nvPr/>
        </p:nvSpPr>
        <p:spPr>
          <a:xfrm>
            <a:off x="1501598" y="18475319"/>
            <a:ext cx="30276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Figure 2. Violin plot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AB38C8B-76D0-3E8B-9FC5-C187343E2F97}"/>
              </a:ext>
            </a:extLst>
          </p:cNvPr>
          <p:cNvSpPr txBox="1"/>
          <p:nvPr/>
        </p:nvSpPr>
        <p:spPr>
          <a:xfrm>
            <a:off x="75627" y="19866264"/>
            <a:ext cx="15948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Biomarker levels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 BP3</a:t>
            </a: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12D2FADC-7FF3-4584-19A0-3AD5BD39B393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2042" y="21168516"/>
            <a:ext cx="2697378" cy="0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2B4D6BF2-7EC9-772F-0785-7CB81EC60B5C}"/>
              </a:ext>
            </a:extLst>
          </p:cNvPr>
          <p:cNvCxnSpPr>
            <a:cxnSpLocks/>
          </p:cNvCxnSpPr>
          <p:nvPr/>
        </p:nvCxnSpPr>
        <p:spPr bwMode="auto">
          <a:xfrm flipV="1">
            <a:off x="1702042" y="19777133"/>
            <a:ext cx="0" cy="1423077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AC44EBC1-BC0A-B26E-9F0D-37240DEFA7CB}"/>
              </a:ext>
            </a:extLst>
          </p:cNvPr>
          <p:cNvSpPr txBox="1"/>
          <p:nvPr/>
        </p:nvSpPr>
        <p:spPr>
          <a:xfrm>
            <a:off x="3126272" y="21184996"/>
            <a:ext cx="13871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Race/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ethnicity = k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ABECE73-E5B0-3534-8762-18D6DA4C4BD9}"/>
              </a:ext>
            </a:extLst>
          </p:cNvPr>
          <p:cNvSpPr txBox="1"/>
          <p:nvPr/>
        </p:nvSpPr>
        <p:spPr>
          <a:xfrm>
            <a:off x="1503451" y="21372491"/>
            <a:ext cx="1668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All Women</a:t>
            </a:r>
          </a:p>
        </p:txBody>
      </p:sp>
      <p:sp>
        <p:nvSpPr>
          <p:cNvPr id="142" name="Teardrop 141">
            <a:extLst>
              <a:ext uri="{FF2B5EF4-FFF2-40B4-BE49-F238E27FC236}">
                <a16:creationId xmlns:a16="http://schemas.microsoft.com/office/drawing/2014/main" id="{4AEE9CF2-F59D-3FE9-A55C-43EEABEB59C5}"/>
              </a:ext>
            </a:extLst>
          </p:cNvPr>
          <p:cNvSpPr/>
          <p:nvPr/>
        </p:nvSpPr>
        <p:spPr>
          <a:xfrm rot="18839780">
            <a:off x="1778400" y="20172828"/>
            <a:ext cx="457200" cy="457200"/>
          </a:xfrm>
          <a:prstGeom prst="teardrop">
            <a:avLst>
              <a:gd name="adj" fmla="val 19987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" name="Teardrop 142">
            <a:extLst>
              <a:ext uri="{FF2B5EF4-FFF2-40B4-BE49-F238E27FC236}">
                <a16:creationId xmlns:a16="http://schemas.microsoft.com/office/drawing/2014/main" id="{0DFF308C-F7ED-692A-81DC-884BCFE21456}"/>
              </a:ext>
            </a:extLst>
          </p:cNvPr>
          <p:cNvSpPr/>
          <p:nvPr/>
        </p:nvSpPr>
        <p:spPr>
          <a:xfrm rot="8104611">
            <a:off x="1778378" y="20246324"/>
            <a:ext cx="457200" cy="457200"/>
          </a:xfrm>
          <a:prstGeom prst="teardrop">
            <a:avLst>
              <a:gd name="adj" fmla="val 19987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4" name="Teardrop 143">
            <a:extLst>
              <a:ext uri="{FF2B5EF4-FFF2-40B4-BE49-F238E27FC236}">
                <a16:creationId xmlns:a16="http://schemas.microsoft.com/office/drawing/2014/main" id="{AE5F0C82-715D-2D21-D0BB-4839514B42F3}"/>
              </a:ext>
            </a:extLst>
          </p:cNvPr>
          <p:cNvSpPr/>
          <p:nvPr/>
        </p:nvSpPr>
        <p:spPr>
          <a:xfrm rot="18839598">
            <a:off x="2300901" y="20021574"/>
            <a:ext cx="457200" cy="457200"/>
          </a:xfrm>
          <a:prstGeom prst="teardrop">
            <a:avLst>
              <a:gd name="adj" fmla="val 19987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5" name="Teardrop 144">
            <a:extLst>
              <a:ext uri="{FF2B5EF4-FFF2-40B4-BE49-F238E27FC236}">
                <a16:creationId xmlns:a16="http://schemas.microsoft.com/office/drawing/2014/main" id="{CCA7B39D-4CB5-8691-D12D-E06EB26381A6}"/>
              </a:ext>
            </a:extLst>
          </p:cNvPr>
          <p:cNvSpPr/>
          <p:nvPr/>
        </p:nvSpPr>
        <p:spPr>
          <a:xfrm rot="8104611">
            <a:off x="2300879" y="20095070"/>
            <a:ext cx="457200" cy="457200"/>
          </a:xfrm>
          <a:prstGeom prst="teardrop">
            <a:avLst>
              <a:gd name="adj" fmla="val 19987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" name="Teardrop 145">
            <a:extLst>
              <a:ext uri="{FF2B5EF4-FFF2-40B4-BE49-F238E27FC236}">
                <a16:creationId xmlns:a16="http://schemas.microsoft.com/office/drawing/2014/main" id="{AE7A9453-4194-CD3C-9F53-6E0C1EDAB6DE}"/>
              </a:ext>
            </a:extLst>
          </p:cNvPr>
          <p:cNvSpPr/>
          <p:nvPr/>
        </p:nvSpPr>
        <p:spPr>
          <a:xfrm rot="18864886">
            <a:off x="3298287" y="19890247"/>
            <a:ext cx="457200" cy="457200"/>
          </a:xfrm>
          <a:prstGeom prst="teardrop">
            <a:avLst>
              <a:gd name="adj" fmla="val 19987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7" name="Teardrop 146">
            <a:extLst>
              <a:ext uri="{FF2B5EF4-FFF2-40B4-BE49-F238E27FC236}">
                <a16:creationId xmlns:a16="http://schemas.microsoft.com/office/drawing/2014/main" id="{1C5AD809-E665-7675-8C69-FC909DAA8B5D}"/>
              </a:ext>
            </a:extLst>
          </p:cNvPr>
          <p:cNvSpPr/>
          <p:nvPr/>
        </p:nvSpPr>
        <p:spPr>
          <a:xfrm rot="8104611">
            <a:off x="3298265" y="19963743"/>
            <a:ext cx="457200" cy="457200"/>
          </a:xfrm>
          <a:prstGeom prst="teardrop">
            <a:avLst>
              <a:gd name="adj" fmla="val 19987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8" name="Teardrop 147">
            <a:extLst>
              <a:ext uri="{FF2B5EF4-FFF2-40B4-BE49-F238E27FC236}">
                <a16:creationId xmlns:a16="http://schemas.microsoft.com/office/drawing/2014/main" id="{CAAAB8CB-BCDE-CC05-78AE-7562F89D3DB0}"/>
              </a:ext>
            </a:extLst>
          </p:cNvPr>
          <p:cNvSpPr/>
          <p:nvPr/>
        </p:nvSpPr>
        <p:spPr>
          <a:xfrm rot="18942236">
            <a:off x="3826914" y="20140017"/>
            <a:ext cx="457200" cy="457200"/>
          </a:xfrm>
          <a:prstGeom prst="teardrop">
            <a:avLst>
              <a:gd name="adj" fmla="val 19987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9" name="Teardrop 148">
            <a:extLst>
              <a:ext uri="{FF2B5EF4-FFF2-40B4-BE49-F238E27FC236}">
                <a16:creationId xmlns:a16="http://schemas.microsoft.com/office/drawing/2014/main" id="{66F94BF2-135F-1119-2EE9-4CC978ACD27F}"/>
              </a:ext>
            </a:extLst>
          </p:cNvPr>
          <p:cNvSpPr/>
          <p:nvPr/>
        </p:nvSpPr>
        <p:spPr>
          <a:xfrm rot="8104611">
            <a:off x="3826892" y="20213513"/>
            <a:ext cx="457200" cy="457200"/>
          </a:xfrm>
          <a:prstGeom prst="teardrop">
            <a:avLst>
              <a:gd name="adj" fmla="val 19987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115E1C4A-D3B8-8AB4-F392-D79B8AF330C5}"/>
              </a:ext>
            </a:extLst>
          </p:cNvPr>
          <p:cNvSpPr/>
          <p:nvPr/>
        </p:nvSpPr>
        <p:spPr>
          <a:xfrm>
            <a:off x="1953764" y="20261490"/>
            <a:ext cx="91440" cy="1828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9FC6D032-D762-B078-AE96-966CFCFD6FFD}"/>
              </a:ext>
            </a:extLst>
          </p:cNvPr>
          <p:cNvSpPr/>
          <p:nvPr/>
        </p:nvSpPr>
        <p:spPr>
          <a:xfrm>
            <a:off x="1953764" y="20449255"/>
            <a:ext cx="91440" cy="1828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F89987C6-0A7F-F616-5421-44F6429F1A5A}"/>
              </a:ext>
            </a:extLst>
          </p:cNvPr>
          <p:cNvCxnSpPr>
            <a:cxnSpLocks/>
          </p:cNvCxnSpPr>
          <p:nvPr/>
        </p:nvCxnSpPr>
        <p:spPr>
          <a:xfrm>
            <a:off x="1995069" y="19950771"/>
            <a:ext cx="0" cy="3107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4428FF92-1F24-EACF-8E3D-0DA7912F68F8}"/>
              </a:ext>
            </a:extLst>
          </p:cNvPr>
          <p:cNvCxnSpPr>
            <a:cxnSpLocks/>
          </p:cNvCxnSpPr>
          <p:nvPr/>
        </p:nvCxnSpPr>
        <p:spPr>
          <a:xfrm>
            <a:off x="2000679" y="20630826"/>
            <a:ext cx="0" cy="3107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D371EC45-E768-3FFF-FDB9-C83548CB1BC4}"/>
              </a:ext>
            </a:extLst>
          </p:cNvPr>
          <p:cNvSpPr/>
          <p:nvPr/>
        </p:nvSpPr>
        <p:spPr>
          <a:xfrm>
            <a:off x="2475533" y="20115623"/>
            <a:ext cx="91440" cy="1828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2ACFF7F3-5734-CBBA-5E00-221B1E9DE88B}"/>
              </a:ext>
            </a:extLst>
          </p:cNvPr>
          <p:cNvSpPr/>
          <p:nvPr/>
        </p:nvSpPr>
        <p:spPr>
          <a:xfrm>
            <a:off x="2475533" y="20303388"/>
            <a:ext cx="91440" cy="1828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806BB9A7-E10C-F861-038F-EF65023104C3}"/>
              </a:ext>
            </a:extLst>
          </p:cNvPr>
          <p:cNvCxnSpPr>
            <a:cxnSpLocks/>
          </p:cNvCxnSpPr>
          <p:nvPr/>
        </p:nvCxnSpPr>
        <p:spPr>
          <a:xfrm>
            <a:off x="2516838" y="19804904"/>
            <a:ext cx="0" cy="3107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F6BBCD0F-704D-AFCD-9283-592B3DE21FFA}"/>
              </a:ext>
            </a:extLst>
          </p:cNvPr>
          <p:cNvCxnSpPr>
            <a:cxnSpLocks/>
          </p:cNvCxnSpPr>
          <p:nvPr/>
        </p:nvCxnSpPr>
        <p:spPr>
          <a:xfrm>
            <a:off x="2522448" y="20484959"/>
            <a:ext cx="0" cy="3107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Rectangle 157">
            <a:extLst>
              <a:ext uri="{FF2B5EF4-FFF2-40B4-BE49-F238E27FC236}">
                <a16:creationId xmlns:a16="http://schemas.microsoft.com/office/drawing/2014/main" id="{0B8B9651-0510-63EF-A1B8-5FD01655DE7F}"/>
              </a:ext>
            </a:extLst>
          </p:cNvPr>
          <p:cNvSpPr/>
          <p:nvPr/>
        </p:nvSpPr>
        <p:spPr>
          <a:xfrm>
            <a:off x="3478750" y="19965419"/>
            <a:ext cx="91440" cy="1828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7D51D1AE-A060-B616-934C-9A70BCC2FD68}"/>
              </a:ext>
            </a:extLst>
          </p:cNvPr>
          <p:cNvSpPr/>
          <p:nvPr/>
        </p:nvSpPr>
        <p:spPr>
          <a:xfrm>
            <a:off x="3478750" y="20153184"/>
            <a:ext cx="91440" cy="1828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1E256BC1-21D7-AB0F-4C4F-F34F437763FF}"/>
              </a:ext>
            </a:extLst>
          </p:cNvPr>
          <p:cNvCxnSpPr>
            <a:cxnSpLocks/>
          </p:cNvCxnSpPr>
          <p:nvPr/>
        </p:nvCxnSpPr>
        <p:spPr>
          <a:xfrm>
            <a:off x="3520055" y="19654700"/>
            <a:ext cx="0" cy="3107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D0D36919-D940-782D-4A91-8DC0927E33C2}"/>
              </a:ext>
            </a:extLst>
          </p:cNvPr>
          <p:cNvCxnSpPr>
            <a:cxnSpLocks/>
          </p:cNvCxnSpPr>
          <p:nvPr/>
        </p:nvCxnSpPr>
        <p:spPr>
          <a:xfrm>
            <a:off x="3525665" y="20334755"/>
            <a:ext cx="0" cy="3107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A1A2C626-1299-F856-9472-9DE1EFD4DE47}"/>
              </a:ext>
            </a:extLst>
          </p:cNvPr>
          <p:cNvSpPr/>
          <p:nvPr/>
        </p:nvSpPr>
        <p:spPr>
          <a:xfrm>
            <a:off x="4011706" y="20196105"/>
            <a:ext cx="91440" cy="1828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33E07A55-74F3-250C-3AD3-D0AD6C36ED2A}"/>
              </a:ext>
            </a:extLst>
          </p:cNvPr>
          <p:cNvSpPr/>
          <p:nvPr/>
        </p:nvSpPr>
        <p:spPr>
          <a:xfrm>
            <a:off x="4011706" y="20383870"/>
            <a:ext cx="91440" cy="1828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C9FB48B5-7725-52FD-3728-7B51DB5C0220}"/>
              </a:ext>
            </a:extLst>
          </p:cNvPr>
          <p:cNvCxnSpPr>
            <a:cxnSpLocks/>
          </p:cNvCxnSpPr>
          <p:nvPr/>
        </p:nvCxnSpPr>
        <p:spPr>
          <a:xfrm>
            <a:off x="4053011" y="19885386"/>
            <a:ext cx="0" cy="3107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B6D2F4AE-46F5-892B-782A-D28347208633}"/>
              </a:ext>
            </a:extLst>
          </p:cNvPr>
          <p:cNvCxnSpPr>
            <a:cxnSpLocks/>
          </p:cNvCxnSpPr>
          <p:nvPr/>
        </p:nvCxnSpPr>
        <p:spPr>
          <a:xfrm>
            <a:off x="4058621" y="20565441"/>
            <a:ext cx="0" cy="3107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8ACFF037-A119-2295-E247-16EBA8C82844}"/>
              </a:ext>
            </a:extLst>
          </p:cNvPr>
          <p:cNvCxnSpPr>
            <a:cxnSpLocks/>
          </p:cNvCxnSpPr>
          <p:nvPr/>
        </p:nvCxnSpPr>
        <p:spPr bwMode="auto">
          <a:xfrm flipH="1">
            <a:off x="13702641" y="17633870"/>
            <a:ext cx="0" cy="73152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0E0D60CB-5260-091C-79C6-C3A291956DD2}"/>
              </a:ext>
            </a:extLst>
          </p:cNvPr>
          <p:cNvCxnSpPr>
            <a:cxnSpLocks/>
          </p:cNvCxnSpPr>
          <p:nvPr/>
        </p:nvCxnSpPr>
        <p:spPr bwMode="auto">
          <a:xfrm>
            <a:off x="4214393" y="17510795"/>
            <a:ext cx="17830800" cy="0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D04FB21E-D9E3-3B7B-03EC-C8A687F15FE5}"/>
              </a:ext>
            </a:extLst>
          </p:cNvPr>
          <p:cNvCxnSpPr>
            <a:cxnSpLocks/>
          </p:cNvCxnSpPr>
          <p:nvPr/>
        </p:nvCxnSpPr>
        <p:spPr bwMode="auto">
          <a:xfrm flipH="1">
            <a:off x="13717956" y="16485861"/>
            <a:ext cx="0" cy="73152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169" name="Straight Connector 63">
            <a:extLst>
              <a:ext uri="{FF2B5EF4-FFF2-40B4-BE49-F238E27FC236}">
                <a16:creationId xmlns:a16="http://schemas.microsoft.com/office/drawing/2014/main" id="{88775A7F-498D-6F9B-D4C0-80291046682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32892" y="17223972"/>
            <a:ext cx="777875" cy="77946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91800613-0CE7-8292-7471-59CBDF0C26EF}"/>
              </a:ext>
            </a:extLst>
          </p:cNvPr>
          <p:cNvSpPr/>
          <p:nvPr/>
        </p:nvSpPr>
        <p:spPr bwMode="auto">
          <a:xfrm>
            <a:off x="10341702" y="17306562"/>
            <a:ext cx="6691310" cy="548640"/>
          </a:xfrm>
          <a:prstGeom prst="roundRect">
            <a:avLst/>
          </a:prstGeom>
          <a:solidFill>
            <a:srgbClr val="000066"/>
          </a:solidFill>
          <a:ln w="25400" cap="flat" cmpd="sng" algn="ctr">
            <a:solidFill>
              <a:srgbClr val="2D2D8A"/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3200" b="1" kern="0" dirty="0">
                <a:solidFill>
                  <a:srgbClr val="F0A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Visualization</a:t>
            </a:r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CA0F5681-AE1E-874B-83B3-87FB7EA96A7A}"/>
              </a:ext>
            </a:extLst>
          </p:cNvPr>
          <p:cNvCxnSpPr/>
          <p:nvPr/>
        </p:nvCxnSpPr>
        <p:spPr bwMode="auto">
          <a:xfrm>
            <a:off x="4236609" y="17510795"/>
            <a:ext cx="0" cy="82296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20BF9EF6-66F0-0799-BDD3-D7F38797D934}"/>
              </a:ext>
            </a:extLst>
          </p:cNvPr>
          <p:cNvCxnSpPr/>
          <p:nvPr/>
        </p:nvCxnSpPr>
        <p:spPr bwMode="auto">
          <a:xfrm>
            <a:off x="22007775" y="17525975"/>
            <a:ext cx="0" cy="822960"/>
          </a:xfrm>
          <a:prstGeom prst="straightConnector1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3D04BC9A-5AD4-8074-F225-831F898279DB}"/>
              </a:ext>
            </a:extLst>
          </p:cNvPr>
          <p:cNvCxnSpPr>
            <a:cxnSpLocks/>
          </p:cNvCxnSpPr>
          <p:nvPr/>
        </p:nvCxnSpPr>
        <p:spPr bwMode="auto">
          <a:xfrm>
            <a:off x="4254885" y="16568988"/>
            <a:ext cx="17830800" cy="0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F755A36B-67FE-941B-EFC8-C025573D4CF8}"/>
              </a:ext>
            </a:extLst>
          </p:cNvPr>
          <p:cNvCxnSpPr/>
          <p:nvPr/>
        </p:nvCxnSpPr>
        <p:spPr bwMode="auto">
          <a:xfrm flipH="1">
            <a:off x="22063639" y="16101641"/>
            <a:ext cx="0" cy="457200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0466297D-8348-EF2E-B5C2-44DFD06064BC}"/>
              </a:ext>
            </a:extLst>
          </p:cNvPr>
          <p:cNvCxnSpPr/>
          <p:nvPr/>
        </p:nvCxnSpPr>
        <p:spPr bwMode="auto">
          <a:xfrm flipH="1">
            <a:off x="13719261" y="16101641"/>
            <a:ext cx="0" cy="457200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689449C9-CCDA-5188-BAC0-8BF12ECC6323}"/>
              </a:ext>
            </a:extLst>
          </p:cNvPr>
          <p:cNvCxnSpPr/>
          <p:nvPr/>
        </p:nvCxnSpPr>
        <p:spPr bwMode="auto">
          <a:xfrm flipH="1">
            <a:off x="4270146" y="16111788"/>
            <a:ext cx="0" cy="457200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177" name="TextBox 51">
            <a:extLst>
              <a:ext uri="{FF2B5EF4-FFF2-40B4-BE49-F238E27FC236}">
                <a16:creationId xmlns:a16="http://schemas.microsoft.com/office/drawing/2014/main" id="{C3B75F53-0539-DAB3-6974-B5DC08F5C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78493" y="4898879"/>
            <a:ext cx="16643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1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0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en-US" sz="2400" b="1" kern="0" dirty="0">
                <a:cs typeface="Arial" panose="020B0604020202020204" pitchFamily="34" charset="0"/>
              </a:rPr>
              <a:t>2003-2016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59707DCA-1FB5-7775-6510-BDBB327715DB}"/>
              </a:ext>
            </a:extLst>
          </p:cNvPr>
          <p:cNvSpPr txBox="1"/>
          <p:nvPr/>
        </p:nvSpPr>
        <p:spPr>
          <a:xfrm>
            <a:off x="12304022" y="21981269"/>
            <a:ext cx="2965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Race/ethnicity = k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DA04380-35E4-AF97-7710-F73406229D2D}"/>
              </a:ext>
            </a:extLst>
          </p:cNvPr>
          <p:cNvSpPr txBox="1"/>
          <p:nvPr/>
        </p:nvSpPr>
        <p:spPr>
          <a:xfrm>
            <a:off x="15256462" y="21998047"/>
            <a:ext cx="3074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Non-Hispanic Black</a:t>
            </a:r>
          </a:p>
        </p:txBody>
      </p: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9635C805-41DC-47D5-7CF1-658A3604B21B}"/>
              </a:ext>
            </a:extLst>
          </p:cNvPr>
          <p:cNvCxnSpPr>
            <a:cxnSpLocks/>
          </p:cNvCxnSpPr>
          <p:nvPr/>
        </p:nvCxnSpPr>
        <p:spPr bwMode="auto">
          <a:xfrm>
            <a:off x="6015094" y="24329587"/>
            <a:ext cx="3353964" cy="0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BDC3CD1F-464B-23FE-01CE-27942BCA8AAE}"/>
              </a:ext>
            </a:extLst>
          </p:cNvPr>
          <p:cNvCxnSpPr>
            <a:cxnSpLocks/>
          </p:cNvCxnSpPr>
          <p:nvPr/>
        </p:nvCxnSpPr>
        <p:spPr bwMode="auto">
          <a:xfrm flipV="1">
            <a:off x="6015089" y="22937938"/>
            <a:ext cx="0" cy="1423077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64660995-3942-7B70-8A47-F1F25034D644}"/>
              </a:ext>
            </a:extLst>
          </p:cNvPr>
          <p:cNvSpPr txBox="1"/>
          <p:nvPr/>
        </p:nvSpPr>
        <p:spPr>
          <a:xfrm>
            <a:off x="4346968" y="22936437"/>
            <a:ext cx="16126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Percent Difference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 BP3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1E6385C8-8620-1F28-2A5F-3037A9EE278A}"/>
              </a:ext>
            </a:extLst>
          </p:cNvPr>
          <p:cNvSpPr/>
          <p:nvPr/>
        </p:nvSpPr>
        <p:spPr>
          <a:xfrm>
            <a:off x="6418471" y="24153390"/>
            <a:ext cx="199098" cy="18330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3FB2CBA5-526D-E475-30E6-163153CC4625}"/>
              </a:ext>
            </a:extLst>
          </p:cNvPr>
          <p:cNvCxnSpPr/>
          <p:nvPr/>
        </p:nvCxnSpPr>
        <p:spPr>
          <a:xfrm>
            <a:off x="6518020" y="23749533"/>
            <a:ext cx="0" cy="9910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5" name="Oval 184">
            <a:extLst>
              <a:ext uri="{FF2B5EF4-FFF2-40B4-BE49-F238E27FC236}">
                <a16:creationId xmlns:a16="http://schemas.microsoft.com/office/drawing/2014/main" id="{748F9F27-BBAD-5D34-8A0A-7336F9235E97}"/>
              </a:ext>
            </a:extLst>
          </p:cNvPr>
          <p:cNvSpPr/>
          <p:nvPr/>
        </p:nvSpPr>
        <p:spPr>
          <a:xfrm>
            <a:off x="6921402" y="23918629"/>
            <a:ext cx="199098" cy="18330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5BBF8E42-F493-B39C-82A9-4AEBBF354864}"/>
              </a:ext>
            </a:extLst>
          </p:cNvPr>
          <p:cNvCxnSpPr/>
          <p:nvPr/>
        </p:nvCxnSpPr>
        <p:spPr>
          <a:xfrm>
            <a:off x="7020951" y="23514772"/>
            <a:ext cx="0" cy="9910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7" name="Oval 186">
            <a:extLst>
              <a:ext uri="{FF2B5EF4-FFF2-40B4-BE49-F238E27FC236}">
                <a16:creationId xmlns:a16="http://schemas.microsoft.com/office/drawing/2014/main" id="{2E32695E-48EE-B2AC-C754-796ED435DF52}"/>
              </a:ext>
            </a:extLst>
          </p:cNvPr>
          <p:cNvSpPr/>
          <p:nvPr/>
        </p:nvSpPr>
        <p:spPr>
          <a:xfrm>
            <a:off x="7430629" y="23670704"/>
            <a:ext cx="199098" cy="18330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BEBEC841-D701-5567-1C44-EA832E3D88A9}"/>
              </a:ext>
            </a:extLst>
          </p:cNvPr>
          <p:cNvCxnSpPr/>
          <p:nvPr/>
        </p:nvCxnSpPr>
        <p:spPr>
          <a:xfrm>
            <a:off x="7530178" y="23266847"/>
            <a:ext cx="0" cy="9910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9" name="Oval 188">
            <a:extLst>
              <a:ext uri="{FF2B5EF4-FFF2-40B4-BE49-F238E27FC236}">
                <a16:creationId xmlns:a16="http://schemas.microsoft.com/office/drawing/2014/main" id="{64FA8201-DB2C-A440-6E3F-BA19F41D87EE}"/>
              </a:ext>
            </a:extLst>
          </p:cNvPr>
          <p:cNvSpPr/>
          <p:nvPr/>
        </p:nvSpPr>
        <p:spPr>
          <a:xfrm>
            <a:off x="7931222" y="23483741"/>
            <a:ext cx="199098" cy="18330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D925FF26-C05F-76C4-662A-40304A40A9E9}"/>
              </a:ext>
            </a:extLst>
          </p:cNvPr>
          <p:cNvCxnSpPr/>
          <p:nvPr/>
        </p:nvCxnSpPr>
        <p:spPr>
          <a:xfrm>
            <a:off x="8030771" y="23079884"/>
            <a:ext cx="0" cy="9910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1" name="Oval 190">
            <a:extLst>
              <a:ext uri="{FF2B5EF4-FFF2-40B4-BE49-F238E27FC236}">
                <a16:creationId xmlns:a16="http://schemas.microsoft.com/office/drawing/2014/main" id="{D051B905-4F34-ED62-8B89-27BBF26BC8FC}"/>
              </a:ext>
            </a:extLst>
          </p:cNvPr>
          <p:cNvSpPr/>
          <p:nvPr/>
        </p:nvSpPr>
        <p:spPr>
          <a:xfrm>
            <a:off x="8406570" y="23460490"/>
            <a:ext cx="199098" cy="18330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4BB56A49-EB43-9FF7-62D5-C9312CF00930}"/>
              </a:ext>
            </a:extLst>
          </p:cNvPr>
          <p:cNvCxnSpPr/>
          <p:nvPr/>
        </p:nvCxnSpPr>
        <p:spPr>
          <a:xfrm>
            <a:off x="8506119" y="23056633"/>
            <a:ext cx="0" cy="9910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55A326C6-7E73-9414-1DEC-2C176B68309A}"/>
              </a:ext>
            </a:extLst>
          </p:cNvPr>
          <p:cNvSpPr/>
          <p:nvPr/>
        </p:nvSpPr>
        <p:spPr>
          <a:xfrm>
            <a:off x="8895230" y="23391800"/>
            <a:ext cx="199098" cy="18330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BB019768-C736-806C-6AC5-8D7F5E31D974}"/>
              </a:ext>
            </a:extLst>
          </p:cNvPr>
          <p:cNvCxnSpPr/>
          <p:nvPr/>
        </p:nvCxnSpPr>
        <p:spPr>
          <a:xfrm>
            <a:off x="8994779" y="22987943"/>
            <a:ext cx="0" cy="9910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5" name="TextBox 194">
            <a:extLst>
              <a:ext uri="{FF2B5EF4-FFF2-40B4-BE49-F238E27FC236}">
                <a16:creationId xmlns:a16="http://schemas.microsoft.com/office/drawing/2014/main" id="{E3F204D9-389A-E24C-917F-E06D7359C2A8}"/>
              </a:ext>
            </a:extLst>
          </p:cNvPr>
          <p:cNvSpPr txBox="1"/>
          <p:nvPr/>
        </p:nvSpPr>
        <p:spPr>
          <a:xfrm>
            <a:off x="6100746" y="24731233"/>
            <a:ext cx="2965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Race/ethnicity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9D5029D2-8E15-E0F5-8610-FE63EE15F977}"/>
              </a:ext>
            </a:extLst>
          </p:cNvPr>
          <p:cNvSpPr txBox="1"/>
          <p:nvPr/>
        </p:nvSpPr>
        <p:spPr>
          <a:xfrm>
            <a:off x="9417676" y="23238730"/>
            <a:ext cx="610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(7)</a:t>
            </a:r>
          </a:p>
        </p:txBody>
      </p: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1F934E8F-35CC-3CB1-2B98-D7E796868A27}"/>
              </a:ext>
            </a:extLst>
          </p:cNvPr>
          <p:cNvCxnSpPr>
            <a:cxnSpLocks/>
          </p:cNvCxnSpPr>
          <p:nvPr/>
        </p:nvCxnSpPr>
        <p:spPr bwMode="auto">
          <a:xfrm>
            <a:off x="13236092" y="24326194"/>
            <a:ext cx="3353964" cy="0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2CC0643D-6279-9A0E-D053-C10847172CD5}"/>
              </a:ext>
            </a:extLst>
          </p:cNvPr>
          <p:cNvCxnSpPr>
            <a:cxnSpLocks/>
          </p:cNvCxnSpPr>
          <p:nvPr/>
        </p:nvCxnSpPr>
        <p:spPr bwMode="auto">
          <a:xfrm flipV="1">
            <a:off x="13236087" y="22934545"/>
            <a:ext cx="0" cy="1423077"/>
          </a:xfrm>
          <a:prstGeom prst="line">
            <a:avLst/>
          </a:prstGeom>
          <a:noFill/>
          <a:ln w="57150" cap="flat" cmpd="sng" algn="ctr">
            <a:solidFill>
              <a:srgbClr val="333399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C49CB409-7026-A5AB-70C5-D1194FC154EE}"/>
              </a:ext>
            </a:extLst>
          </p:cNvPr>
          <p:cNvSpPr txBox="1"/>
          <p:nvPr/>
        </p:nvSpPr>
        <p:spPr>
          <a:xfrm>
            <a:off x="11567966" y="22933044"/>
            <a:ext cx="16126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Percent Difference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 BP3</a:t>
            </a:r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1EE6DFD4-874B-7E10-513F-5F60CCC51F8D}"/>
              </a:ext>
            </a:extLst>
          </p:cNvPr>
          <p:cNvSpPr/>
          <p:nvPr/>
        </p:nvSpPr>
        <p:spPr>
          <a:xfrm>
            <a:off x="13639469" y="24149997"/>
            <a:ext cx="199098" cy="18330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C8E0EEE7-E698-68CB-8A81-A4E7606A8F5D}"/>
              </a:ext>
            </a:extLst>
          </p:cNvPr>
          <p:cNvCxnSpPr/>
          <p:nvPr/>
        </p:nvCxnSpPr>
        <p:spPr>
          <a:xfrm>
            <a:off x="13739018" y="23746140"/>
            <a:ext cx="0" cy="9910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2" name="Oval 201">
            <a:extLst>
              <a:ext uri="{FF2B5EF4-FFF2-40B4-BE49-F238E27FC236}">
                <a16:creationId xmlns:a16="http://schemas.microsoft.com/office/drawing/2014/main" id="{E6D889A2-F695-32C6-6090-5578DFFFC1C6}"/>
              </a:ext>
            </a:extLst>
          </p:cNvPr>
          <p:cNvSpPr/>
          <p:nvPr/>
        </p:nvSpPr>
        <p:spPr>
          <a:xfrm>
            <a:off x="14142400" y="23915236"/>
            <a:ext cx="199098" cy="18330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EB0A3BCB-7F86-C9B8-21C1-9352C21291F2}"/>
              </a:ext>
            </a:extLst>
          </p:cNvPr>
          <p:cNvCxnSpPr/>
          <p:nvPr/>
        </p:nvCxnSpPr>
        <p:spPr>
          <a:xfrm>
            <a:off x="14241949" y="23511379"/>
            <a:ext cx="0" cy="9910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4" name="Oval 203">
            <a:extLst>
              <a:ext uri="{FF2B5EF4-FFF2-40B4-BE49-F238E27FC236}">
                <a16:creationId xmlns:a16="http://schemas.microsoft.com/office/drawing/2014/main" id="{E554CF53-558D-2FB2-D747-7043937E7014}"/>
              </a:ext>
            </a:extLst>
          </p:cNvPr>
          <p:cNvSpPr/>
          <p:nvPr/>
        </p:nvSpPr>
        <p:spPr>
          <a:xfrm>
            <a:off x="14651627" y="23667311"/>
            <a:ext cx="199098" cy="18330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6508A675-AEDE-3B49-A70D-DF546720CCEC}"/>
              </a:ext>
            </a:extLst>
          </p:cNvPr>
          <p:cNvCxnSpPr/>
          <p:nvPr/>
        </p:nvCxnSpPr>
        <p:spPr>
          <a:xfrm>
            <a:off x="14751176" y="23263454"/>
            <a:ext cx="0" cy="9910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6" name="Oval 205">
            <a:extLst>
              <a:ext uri="{FF2B5EF4-FFF2-40B4-BE49-F238E27FC236}">
                <a16:creationId xmlns:a16="http://schemas.microsoft.com/office/drawing/2014/main" id="{196AA0BE-BDD2-E33A-3E80-498255A22708}"/>
              </a:ext>
            </a:extLst>
          </p:cNvPr>
          <p:cNvSpPr/>
          <p:nvPr/>
        </p:nvSpPr>
        <p:spPr>
          <a:xfrm>
            <a:off x="15152220" y="23480348"/>
            <a:ext cx="199098" cy="18330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8D288013-2FAB-DDF5-4588-A03BEFE2B6CD}"/>
              </a:ext>
            </a:extLst>
          </p:cNvPr>
          <p:cNvCxnSpPr/>
          <p:nvPr/>
        </p:nvCxnSpPr>
        <p:spPr>
          <a:xfrm>
            <a:off x="15251769" y="23076491"/>
            <a:ext cx="0" cy="9910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8" name="Oval 207">
            <a:extLst>
              <a:ext uri="{FF2B5EF4-FFF2-40B4-BE49-F238E27FC236}">
                <a16:creationId xmlns:a16="http://schemas.microsoft.com/office/drawing/2014/main" id="{C10EE189-8895-1604-FE17-50981C26577A}"/>
              </a:ext>
            </a:extLst>
          </p:cNvPr>
          <p:cNvSpPr/>
          <p:nvPr/>
        </p:nvSpPr>
        <p:spPr>
          <a:xfrm>
            <a:off x="15627568" y="23457097"/>
            <a:ext cx="199098" cy="18330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BCE12590-0315-C341-F6A5-C0100E4474F5}"/>
              </a:ext>
            </a:extLst>
          </p:cNvPr>
          <p:cNvCxnSpPr/>
          <p:nvPr/>
        </p:nvCxnSpPr>
        <p:spPr>
          <a:xfrm>
            <a:off x="15727117" y="23053240"/>
            <a:ext cx="0" cy="9910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0" name="Oval 209">
            <a:extLst>
              <a:ext uri="{FF2B5EF4-FFF2-40B4-BE49-F238E27FC236}">
                <a16:creationId xmlns:a16="http://schemas.microsoft.com/office/drawing/2014/main" id="{46213EEE-7527-FB0A-08DA-B28B0AE7E08D}"/>
              </a:ext>
            </a:extLst>
          </p:cNvPr>
          <p:cNvSpPr/>
          <p:nvPr/>
        </p:nvSpPr>
        <p:spPr>
          <a:xfrm>
            <a:off x="16116228" y="23388407"/>
            <a:ext cx="199098" cy="18330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5F3E1292-D548-930B-2EE0-9D1E93945C42}"/>
              </a:ext>
            </a:extLst>
          </p:cNvPr>
          <p:cNvCxnSpPr/>
          <p:nvPr/>
        </p:nvCxnSpPr>
        <p:spPr>
          <a:xfrm>
            <a:off x="16215777" y="22984550"/>
            <a:ext cx="0" cy="9910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2" name="TextBox 211">
            <a:extLst>
              <a:ext uri="{FF2B5EF4-FFF2-40B4-BE49-F238E27FC236}">
                <a16:creationId xmlns:a16="http://schemas.microsoft.com/office/drawing/2014/main" id="{7C6C0D45-9D97-0A62-6AC4-DFA061028CD1}"/>
              </a:ext>
            </a:extLst>
          </p:cNvPr>
          <p:cNvSpPr txBox="1"/>
          <p:nvPr/>
        </p:nvSpPr>
        <p:spPr>
          <a:xfrm>
            <a:off x="13321744" y="24727840"/>
            <a:ext cx="2965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Race/ethnicity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C45F7590-8A42-2322-C568-0ADBA5D3BD17}"/>
              </a:ext>
            </a:extLst>
          </p:cNvPr>
          <p:cNvSpPr txBox="1"/>
          <p:nvPr/>
        </p:nvSpPr>
        <p:spPr>
          <a:xfrm>
            <a:off x="16638674" y="23235337"/>
            <a:ext cx="610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(8)</a:t>
            </a:r>
          </a:p>
        </p:txBody>
      </p:sp>
    </p:spTree>
    <p:extLst>
      <p:ext uri="{BB962C8B-B14F-4D97-AF65-F5344CB8AC3E}">
        <p14:creationId xmlns:p14="http://schemas.microsoft.com/office/powerpoint/2010/main" val="656577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40574</TotalTime>
  <Words>1050</Words>
  <Application>Microsoft Macintosh PowerPoint</Application>
  <PresentationFormat>Custom</PresentationFormat>
  <Paragraphs>244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Nguyen, Vy</dc:creator>
  <cp:lastModifiedBy>Nguyen, Vy Kim</cp:lastModifiedBy>
  <cp:revision>132</cp:revision>
  <dcterms:created xsi:type="dcterms:W3CDTF">2020-07-17T16:29:03Z</dcterms:created>
  <dcterms:modified xsi:type="dcterms:W3CDTF">2024-08-16T18:57:43Z</dcterms:modified>
</cp:coreProperties>
</file>